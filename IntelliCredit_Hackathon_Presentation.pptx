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9" r:id="rId12"/>
    <p:sldId id="267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-418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3D028-F645-4919-81C4-7F054D057B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45850-3ABD-4372-B9E1-EBABE24B6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0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parshav-shah-485739284/" TargetMode="External"/><Relationship Id="rId4" Type="http://schemas.openxmlformats.org/officeDocument/2006/relationships/hyperlink" Target="https://github.com/Parshav2304/IntelliCredi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8138" y="36575"/>
            <a:ext cx="6924261" cy="5047489"/>
          </a:xfrm>
          <a:prstGeom prst="ellipse">
            <a:avLst/>
          </a:prstGeom>
          <a:solidFill>
            <a:schemeClr val="tx1">
              <a:alpha val="36000"/>
            </a:scheme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2539" y="144962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</a:t>
            </a:r>
            <a:r>
              <a:rPr lang="en-US" sz="6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762539" y="250118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Corporate Credit Appraisal Engine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62539" y="300410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From weeks to minutes. From guesswork to explainable AI.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62539" y="3552742"/>
            <a:ext cx="1417320" cy="329184"/>
          </a:xfrm>
          <a:prstGeom prst="rect">
            <a:avLst/>
          </a:prstGeom>
          <a:solidFill>
            <a:srgbClr val="3B82F6">
              <a:alpha val="18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2539" y="355274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1. Data Ingestor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62739" y="3552742"/>
            <a:ext cx="1417320" cy="329184"/>
          </a:xfrm>
          <a:prstGeom prst="rect">
            <a:avLst/>
          </a:prstGeom>
          <a:solidFill>
            <a:srgbClr val="00D4AA">
              <a:alpha val="18000"/>
            </a:srgbClr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2739" y="355274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2. Research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2939" y="3552742"/>
            <a:ext cx="1417320" cy="329184"/>
          </a:xfrm>
          <a:prstGeom prst="rect">
            <a:avLst/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2939" y="355274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3. CAM Engine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776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037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Corporate Credit — The Data Paradox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82958" y="2090191"/>
            <a:ext cx="3840480" cy="1900045"/>
          </a:xfrm>
          <a:prstGeom prst="rect">
            <a:avLst/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9113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3–6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33186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WEEKS to process one loan application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49304"/>
            <a:ext cx="2057400" cy="126187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49304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64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73168" y="2024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</a:rPr>
              <a:t>Fragmented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262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GST filings, ITRs, bank statements, PDFs — all siloed and unlinked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549304"/>
            <a:ext cx="2057400" cy="126187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1549304"/>
            <a:ext cx="45720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2024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</a:rPr>
              <a:t>Missed Early Warnings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2262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Buried signals in 200-page annual reports go unnoticed until default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966624"/>
            <a:ext cx="2057400" cy="126187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66624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05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73168" y="3442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</a:rPr>
              <a:t>Human Bias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36798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Subjective analyst judgement with no audit trail or explainability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966624"/>
            <a:ext cx="2057400" cy="126187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966624"/>
            <a:ext cx="45720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305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67728" y="3442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</a:rPr>
              <a:t>No External Intelligence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67728" y="36798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Litigation, MCA flags &amp; sector news manually googled — or skipped</a:t>
            </a:r>
            <a:endParaRPr lang="en-US" sz="1000" dirty="0"/>
          </a:p>
        </p:txBody>
      </p:sp>
      <p:pic>
        <p:nvPicPr>
          <p:cNvPr id="2050" name="Picture 2" descr="Writing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448" y="164760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rch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28" y="164760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rainstorm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168" y="3089705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rowser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394" y="3089705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IntelliCredit — End-to-End AI Credit Decisioning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2651760" cy="320040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34440"/>
            <a:ext cx="45720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353312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Ingestor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Multi-Format Parsing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25786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PDF / XLSX / scanned OCR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" y="30175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GST ↔ Bank reconciliation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" y="34564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Circular trading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6392" y="1234440"/>
            <a:ext cx="2651760" cy="320040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6392" y="1234440"/>
            <a:ext cx="45720" cy="3200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353312"/>
            <a:ext cx="457200" cy="45720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18836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Agent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Digital Credit Manager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25786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Web crawl: promoters, sector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73552" y="30175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eCourts + MCA + SFIO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73552" y="34564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Qualitative notes portal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16752" y="1234440"/>
            <a:ext cx="2651760" cy="320040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16752" y="1234440"/>
            <a:ext cx="45720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1353312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26480" y="18836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 Engine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2648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Recommendation &amp; Report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53912" y="25786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Five Cs scoring model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53912" y="30175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SHAP explainability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53912" y="34564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›  PDF / DOCX CAM output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62072" y="26746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6072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56032" y="4572000"/>
            <a:ext cx="8412480" cy="384048"/>
          </a:xfrm>
          <a:prstGeom prst="rect">
            <a:avLst/>
          </a:prstGeom>
          <a:solidFill>
            <a:srgbClr val="000000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572000"/>
            <a:ext cx="4572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6085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AA"/>
                </a:solidFill>
              </a:rPr>
              <a:t>OUTPUT:  Comprehensive Credit Appraisal Memo (CAM)  •  Loan Amount  •  Risk-Adjusted Interest Rate  •  Explainable Decision Logic</a:t>
            </a:r>
            <a:endParaRPr lang="en-US" sz="950" dirty="0"/>
          </a:p>
        </p:txBody>
      </p:sp>
      <p:pic>
        <p:nvPicPr>
          <p:cNvPr id="3074" name="Picture 2" descr="Download to storage drive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21" y="1389888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Search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518" y="1399032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ocuments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967" y="1399032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</a:rPr>
              <a:t>PILLAR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Ingestor — Multi-Format Intelligence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931920" cy="62179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5"/>
                </a:solidFill>
              </a:rPr>
              <a:t>Annual Reports (PDF)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426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Key commitments, risk factors, MD&amp;A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3931920" cy="62179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56232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5"/>
                </a:solidFill>
              </a:rPr>
              <a:t>GST Returns (3B vs 2A)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396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Circular trading &amp; inflation detection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3931920" cy="62179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69464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5"/>
                </a:solidFill>
              </a:rPr>
              <a:t>Bank Statements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Cash flow patterns &amp; anomaly flags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82696"/>
            <a:ext cx="3931920" cy="62179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82696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328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5"/>
                </a:solidFill>
              </a:rPr>
              <a:t>Legal / DRT Notices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Recovery suits, wilful default flags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995928"/>
            <a:ext cx="3931920" cy="62179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95928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5"/>
                </a:solidFill>
              </a:rPr>
              <a:t>MCA Filings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Director history, charge records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143000"/>
            <a:ext cx="4069080" cy="35661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1234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GST Reconciliation Engine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149961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GSTR-3B  vs  GSTR-2A  vs  Bank Credits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77608" y="1847088"/>
            <a:ext cx="685800" cy="329184"/>
          </a:xfrm>
          <a:prstGeom prst="rect">
            <a:avLst/>
          </a:prstGeom>
          <a:solidFill>
            <a:srgbClr val="10141C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4184" y="1865376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A99"/>
                </a:solidFill>
              </a:rPr>
              <a:t>Month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63408" y="1847088"/>
            <a:ext cx="658368" cy="329184"/>
          </a:xfrm>
          <a:prstGeom prst="rect">
            <a:avLst/>
          </a:prstGeom>
          <a:solidFill>
            <a:srgbClr val="10141C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9984" y="186537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A99"/>
                </a:solidFill>
              </a:rPr>
              <a:t>3B (₹L)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21776" y="1847088"/>
            <a:ext cx="658368" cy="329184"/>
          </a:xfrm>
          <a:prstGeom prst="rect">
            <a:avLst/>
          </a:prstGeom>
          <a:solidFill>
            <a:srgbClr val="10141C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8352" y="186537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A99"/>
                </a:solidFill>
              </a:rPr>
              <a:t>2A (₹L)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80144" y="1847088"/>
            <a:ext cx="658368" cy="329184"/>
          </a:xfrm>
          <a:prstGeom prst="rect">
            <a:avLst/>
          </a:prstGeom>
          <a:solidFill>
            <a:srgbClr val="10141C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6720" y="186537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A99"/>
                </a:solidFill>
              </a:rPr>
              <a:t>Bank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38512" y="1847088"/>
            <a:ext cx="822960" cy="329184"/>
          </a:xfrm>
          <a:prstGeom prst="rect">
            <a:avLst/>
          </a:prstGeom>
          <a:solidFill>
            <a:srgbClr val="10141C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75088" y="18653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A99"/>
                </a:solidFill>
              </a:rPr>
              <a:t>Flag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77608" y="2194560"/>
            <a:ext cx="685800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4184" y="221284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Jan 24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63408" y="2194560"/>
            <a:ext cx="658368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9984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48.2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21776" y="2194560"/>
            <a:ext cx="658368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8352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46.5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80144" y="2194560"/>
            <a:ext cx="658368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16720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47.0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38512" y="2194560"/>
            <a:ext cx="822960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5088" y="2212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✓ Clear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77608" y="2542032"/>
            <a:ext cx="685800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4184" y="256032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Feb 24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63408" y="2542032"/>
            <a:ext cx="658368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99984" y="25603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51.0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21776" y="2542032"/>
            <a:ext cx="658368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58352" y="25603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49.0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80144" y="2542032"/>
            <a:ext cx="658368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16720" y="25603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48.0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38512" y="2542032"/>
            <a:ext cx="822960" cy="329184"/>
          </a:xfrm>
          <a:prstGeom prst="rect">
            <a:avLst/>
          </a:prstGeom>
          <a:solidFill>
            <a:srgbClr val="151A25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75088" y="25603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✓ Clear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77608" y="2889504"/>
            <a:ext cx="6858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4184" y="2907792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Mar 24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563408" y="2889504"/>
            <a:ext cx="65836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99984" y="29077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89.0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21776" y="2889504"/>
            <a:ext cx="65836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8352" y="29077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42.0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80144" y="2889504"/>
            <a:ext cx="65836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16720" y="29077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45.0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38512" y="2889504"/>
            <a:ext cx="8229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75088" y="29077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⚠ +112%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877608" y="3236976"/>
            <a:ext cx="6858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14184" y="325526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Jun 24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563408" y="3236976"/>
            <a:ext cx="65836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99984" y="32552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92.0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21776" y="3236976"/>
            <a:ext cx="65836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58352" y="32552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41.0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880144" y="3236976"/>
            <a:ext cx="65836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16720" y="32552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43.0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38512" y="3236976"/>
            <a:ext cx="8229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1E253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75088" y="32552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⚠ +124%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745736" y="3639312"/>
            <a:ext cx="3895344" cy="822960"/>
          </a:xfrm>
          <a:prstGeom prst="rect">
            <a:avLst/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69417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EF4444"/>
                </a:solidFill>
              </a:rPr>
              <a:t>        </a:t>
            </a:r>
            <a:r>
              <a:rPr lang="en-US" sz="850" b="1" dirty="0">
                <a:solidFill>
                  <a:srgbClr val="EF4444"/>
                </a:solidFill>
              </a:rPr>
              <a:t>AI Finding: </a:t>
            </a:r>
            <a:r>
              <a:rPr lang="en-US" sz="850" dirty="0">
                <a:solidFill>
                  <a:srgbClr val="E8EDF5"/>
                </a:solidFill>
              </a:rPr>
              <a:t>GSTR-3B in Mar &amp; Jun show revenue 112–124% above GSTR-2A purchase data — strong indicator of circular trading / revenue inflation.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4645152"/>
            <a:ext cx="3931920" cy="310896"/>
          </a:xfrm>
          <a:prstGeom prst="rect">
            <a:avLst/>
          </a:prstGeom>
          <a:solidFill>
            <a:srgbClr val="10141C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457200" y="4681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 smtClean="0">
                <a:solidFill>
                  <a:srgbClr val="6B7A99"/>
                </a:solidFill>
              </a:rPr>
              <a:t>  </a:t>
            </a:r>
            <a:r>
              <a:rPr lang="en-US" sz="850" i="1" dirty="0">
                <a:solidFill>
                  <a:srgbClr val="6B7A99"/>
                </a:solidFill>
              </a:rPr>
              <a:t>Credit Officer notes (site visit, DD) auto-parsed into risk score</a:t>
            </a:r>
            <a:endParaRPr lang="en-US" sz="850" dirty="0"/>
          </a:p>
        </p:txBody>
      </p:sp>
      <p:pic>
        <p:nvPicPr>
          <p:cNvPr id="89" name="Picture 2" descr="Writing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3899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4" descr="Documents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7510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Bank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270662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inance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48386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kyline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6966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Microchip 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024" y="3928311"/>
            <a:ext cx="137160" cy="13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PILLAR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Agent — The Digital Credit Manager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55743"/>
            <a:ext cx="2103120" cy="5943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5743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2889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E8EDF5"/>
                </a:solidFill>
              </a:rPr>
              <a:t> Economic </a:t>
            </a:r>
            <a:r>
              <a:rPr lang="en-US" sz="900" dirty="0">
                <a:solidFill>
                  <a:srgbClr val="E8EDF5"/>
                </a:solidFill>
              </a:rPr>
              <a:t>Times / Moneycontrol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555743"/>
            <a:ext cx="2103120" cy="5943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555743"/>
            <a:ext cx="457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62889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 smtClean="0">
                <a:solidFill>
                  <a:srgbClr val="E8EDF5"/>
                </a:solidFill>
              </a:rPr>
              <a:t>eCourts</a:t>
            </a:r>
            <a:r>
              <a:rPr lang="en-US" sz="900" dirty="0" smtClean="0">
                <a:solidFill>
                  <a:srgbClr val="E8EDF5"/>
                </a:solidFill>
              </a:rPr>
              <a:t> </a:t>
            </a:r>
            <a:r>
              <a:rPr lang="en-US" sz="900" dirty="0">
                <a:solidFill>
                  <a:srgbClr val="E8EDF5"/>
                </a:solidFill>
              </a:rPr>
              <a:t>Portal — Litigation History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41543"/>
            <a:ext cx="2103120" cy="5943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1543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1469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E8EDF5"/>
                </a:solidFill>
              </a:rPr>
              <a:t> </a:t>
            </a:r>
            <a:r>
              <a:rPr lang="en-US" sz="900" dirty="0">
                <a:solidFill>
                  <a:srgbClr val="E8EDF5"/>
                </a:solidFill>
              </a:rPr>
              <a:t>MCA21 — Director &amp; Charge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2241543"/>
            <a:ext cx="2103120" cy="5943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2241543"/>
            <a:ext cx="457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231469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E8EDF5"/>
                </a:solidFill>
              </a:rPr>
              <a:t>SFIO </a:t>
            </a:r>
            <a:r>
              <a:rPr lang="en-US" sz="900" dirty="0">
                <a:solidFill>
                  <a:srgbClr val="E8EDF5"/>
                </a:solidFill>
              </a:rPr>
              <a:t>Enforcement Database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27343"/>
            <a:ext cx="2103120" cy="5943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7343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0049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E8EDF5"/>
                </a:solidFill>
              </a:rPr>
              <a:t>  </a:t>
            </a:r>
            <a:r>
              <a:rPr lang="en-US" sz="900" dirty="0">
                <a:solidFill>
                  <a:srgbClr val="E8EDF5"/>
                </a:solidFill>
              </a:rPr>
              <a:t>ICRA / CRISIL Sector Reports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927343"/>
            <a:ext cx="2103120" cy="59436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0" y="2927343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300049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E8EDF5"/>
                </a:solidFill>
              </a:rPr>
              <a:t> </a:t>
            </a:r>
            <a:r>
              <a:rPr lang="en-US" sz="900" dirty="0">
                <a:solidFill>
                  <a:srgbClr val="E8EDF5"/>
                </a:solidFill>
              </a:rPr>
              <a:t>CIBIL Commercial Reports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3732" y="1124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Sample Findings — Sharma Chemicals Ltd.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3732" y="1508760"/>
            <a:ext cx="4069080" cy="71323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3732" y="1508760"/>
            <a:ext cx="4114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5172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82644" y="1572768"/>
            <a:ext cx="640080" cy="201168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2644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HIGH RISK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5172" y="18013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DF5"/>
                </a:solidFill>
              </a:rPr>
              <a:t>DRT Mumbai: Recovery suit ₹4.2 Cr (PNB)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5172" y="203911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eCourts Portal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3732" y="2313432"/>
            <a:ext cx="4069080" cy="71323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3732" y="2313432"/>
            <a:ext cx="4114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5172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82644" y="2377440"/>
            <a:ext cx="640080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82644" y="23774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</a:rPr>
              <a:t>CAUTION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935172" y="2606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DF5"/>
                </a:solidFill>
              </a:rPr>
              <a:t>Promoter named in SFIO probe — related-party txns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5172" y="284378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Economic Times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3732" y="3118104"/>
            <a:ext cx="4069080" cy="71323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3732" y="3118104"/>
            <a:ext cx="41148" cy="7132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5172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82644" y="3182112"/>
            <a:ext cx="640080" cy="201168"/>
          </a:xfrm>
          <a:prstGeom prst="rect">
            <a:avLst/>
          </a:prstGeom>
          <a:solidFill>
            <a:srgbClr val="00D4AA">
              <a:alpha val="18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2644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D4AA"/>
                </a:solidFill>
              </a:rPr>
              <a:t>POSITIVE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935172" y="3410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DF5"/>
                </a:solidFill>
              </a:rPr>
              <a:t>Sector: Specialty chemicals +18% FY26 — ICRA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35172" y="36484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Business Standard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3732" y="3922776"/>
            <a:ext cx="4069080" cy="713232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3732" y="3922776"/>
            <a:ext cx="4114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5172" y="3968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82644" y="3986784"/>
            <a:ext cx="640080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2644" y="3986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</a:rPr>
              <a:t>CAUTION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935172" y="4215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DF5"/>
                </a:solidFill>
              </a:rPr>
              <a:t>GST penalty ₹12L for missed Q2 deadline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35172" y="445312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Moneycontrol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3658863"/>
            <a:ext cx="4297680" cy="594360"/>
          </a:xfrm>
          <a:prstGeom prst="rect">
            <a:avLst/>
          </a:prstGeom>
          <a:solidFill>
            <a:srgbClr val="10141C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" y="3658863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713727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00D4AA"/>
                </a:solidFill>
              </a:rPr>
              <a:t> </a:t>
            </a:r>
            <a:r>
              <a:rPr lang="en-US" sz="1000" b="1" dirty="0">
                <a:solidFill>
                  <a:srgbClr val="00D4AA"/>
                </a:solidFill>
              </a:rPr>
              <a:t>Qualitative Portal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3933183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Credit officers enter site visit observations → AI adjusts risk score in real-time based on NLP sentiment + key triggers</a:t>
            </a:r>
            <a:endParaRPr lang="en-US" sz="850" dirty="0"/>
          </a:p>
        </p:txBody>
      </p:sp>
      <p:pic>
        <p:nvPicPr>
          <p:cNvPr id="5122" name="Picture 2" descr="Risk assessment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884" y="1519988"/>
            <a:ext cx="32004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aution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884" y="2318004"/>
            <a:ext cx="32004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4" descr="Caution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172" y="3927348"/>
            <a:ext cx="32004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Accept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172" y="3163824"/>
            <a:ext cx="283464" cy="28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4" name="Text 3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 ·  CAM &amp; DECISION ENGINE</a:t>
            </a:r>
            <a:endParaRPr lang="en-US" sz="850" dirty="0"/>
          </a:p>
        </p:txBody>
      </p:sp>
      <p:sp>
        <p:nvSpPr>
          <p:cNvPr id="65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Appraisal Memo &amp; AI Recommendation</a:t>
            </a:r>
            <a:endParaRPr lang="en-US" sz="2300" dirty="0"/>
          </a:p>
        </p:txBody>
      </p:sp>
      <p:sp>
        <p:nvSpPr>
          <p:cNvPr id="66" name="Text 5"/>
          <p:cNvSpPr/>
          <p:nvPr/>
        </p:nvSpPr>
        <p:spPr>
          <a:xfrm>
            <a:off x="292608" y="1115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Cs Scoring</a:t>
            </a:r>
            <a:endParaRPr lang="en-US" sz="1000" dirty="0"/>
          </a:p>
        </p:txBody>
      </p:sp>
      <p:sp>
        <p:nvSpPr>
          <p:cNvPr id="67" name="Shape 6"/>
          <p:cNvSpPr/>
          <p:nvPr/>
        </p:nvSpPr>
        <p:spPr>
          <a:xfrm>
            <a:off x="292608" y="1389888"/>
            <a:ext cx="2743200" cy="50292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8" name="Shape 7"/>
          <p:cNvSpPr/>
          <p:nvPr/>
        </p:nvSpPr>
        <p:spPr>
          <a:xfrm>
            <a:off x="292608" y="1389888"/>
            <a:ext cx="50292" cy="502920"/>
          </a:xfrm>
          <a:prstGeom prst="rect">
            <a:avLst/>
          </a:prstGeom>
          <a:solidFill>
            <a:srgbClr val="E8455A"/>
          </a:solidFill>
          <a:ln w="12700">
            <a:solidFill>
              <a:srgbClr val="E8455A"/>
            </a:solidFill>
            <a:prstDash val="solid"/>
          </a:ln>
        </p:spPr>
      </p:sp>
      <p:sp>
        <p:nvSpPr>
          <p:cNvPr id="69" name="Text 8"/>
          <p:cNvSpPr/>
          <p:nvPr/>
        </p:nvSpPr>
        <p:spPr>
          <a:xfrm>
            <a:off x="402336" y="1435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050" dirty="0"/>
          </a:p>
        </p:txBody>
      </p:sp>
      <p:sp>
        <p:nvSpPr>
          <p:cNvPr id="70" name="Shape 9"/>
          <p:cNvSpPr/>
          <p:nvPr/>
        </p:nvSpPr>
        <p:spPr>
          <a:xfrm>
            <a:off x="402336" y="1691640"/>
            <a:ext cx="2377440" cy="10972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71" name="Shape 10"/>
          <p:cNvSpPr/>
          <p:nvPr/>
        </p:nvSpPr>
        <p:spPr>
          <a:xfrm>
            <a:off x="402336" y="1691640"/>
            <a:ext cx="1236269" cy="109728"/>
          </a:xfrm>
          <a:prstGeom prst="rect">
            <a:avLst/>
          </a:prstGeom>
          <a:solidFill>
            <a:srgbClr val="E8455A"/>
          </a:solidFill>
          <a:ln w="12700">
            <a:solidFill>
              <a:srgbClr val="E8455A"/>
            </a:solidFill>
            <a:prstDash val="solid"/>
          </a:ln>
        </p:spPr>
      </p:sp>
      <p:sp>
        <p:nvSpPr>
          <p:cNvPr id="72" name="Text 11"/>
          <p:cNvSpPr/>
          <p:nvPr/>
        </p:nvSpPr>
        <p:spPr>
          <a:xfrm>
            <a:off x="2624328" y="14356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73" name="Shape 12"/>
          <p:cNvSpPr/>
          <p:nvPr/>
        </p:nvSpPr>
        <p:spPr>
          <a:xfrm>
            <a:off x="292608" y="1920240"/>
            <a:ext cx="2743200" cy="50292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4" name="Shape 13"/>
          <p:cNvSpPr/>
          <p:nvPr/>
        </p:nvSpPr>
        <p:spPr>
          <a:xfrm>
            <a:off x="292608" y="1920240"/>
            <a:ext cx="5029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5" name="Text 14"/>
          <p:cNvSpPr/>
          <p:nvPr/>
        </p:nvSpPr>
        <p:spPr>
          <a:xfrm>
            <a:off x="402336" y="1965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76" name="Shape 15"/>
          <p:cNvSpPr/>
          <p:nvPr/>
        </p:nvSpPr>
        <p:spPr>
          <a:xfrm>
            <a:off x="402336" y="2221992"/>
            <a:ext cx="2377440" cy="10972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77" name="Shape 16"/>
          <p:cNvSpPr/>
          <p:nvPr/>
        </p:nvSpPr>
        <p:spPr>
          <a:xfrm>
            <a:off x="402336" y="2221992"/>
            <a:ext cx="1687982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8" name="Text 17"/>
          <p:cNvSpPr/>
          <p:nvPr/>
        </p:nvSpPr>
        <p:spPr>
          <a:xfrm>
            <a:off x="2624328" y="1965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300" dirty="0"/>
          </a:p>
        </p:txBody>
      </p:sp>
      <p:sp>
        <p:nvSpPr>
          <p:cNvPr id="79" name="Shape 18"/>
          <p:cNvSpPr/>
          <p:nvPr/>
        </p:nvSpPr>
        <p:spPr>
          <a:xfrm>
            <a:off x="292608" y="2450592"/>
            <a:ext cx="2743200" cy="50292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0" name="Shape 19"/>
          <p:cNvSpPr/>
          <p:nvPr/>
        </p:nvSpPr>
        <p:spPr>
          <a:xfrm>
            <a:off x="292608" y="2450592"/>
            <a:ext cx="5029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1" name="Text 20"/>
          <p:cNvSpPr/>
          <p:nvPr/>
        </p:nvSpPr>
        <p:spPr>
          <a:xfrm>
            <a:off x="402336" y="2496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50" dirty="0"/>
          </a:p>
        </p:txBody>
      </p:sp>
      <p:sp>
        <p:nvSpPr>
          <p:cNvPr id="82" name="Shape 21"/>
          <p:cNvSpPr/>
          <p:nvPr/>
        </p:nvSpPr>
        <p:spPr>
          <a:xfrm>
            <a:off x="402336" y="2752344"/>
            <a:ext cx="2377440" cy="10972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83" name="Shape 22"/>
          <p:cNvSpPr/>
          <p:nvPr/>
        </p:nvSpPr>
        <p:spPr>
          <a:xfrm>
            <a:off x="402336" y="2752344"/>
            <a:ext cx="1616659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4" name="Text 23"/>
          <p:cNvSpPr/>
          <p:nvPr/>
        </p:nvSpPr>
        <p:spPr>
          <a:xfrm>
            <a:off x="2624328" y="24963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300" dirty="0"/>
          </a:p>
        </p:txBody>
      </p:sp>
      <p:sp>
        <p:nvSpPr>
          <p:cNvPr id="85" name="Shape 24"/>
          <p:cNvSpPr/>
          <p:nvPr/>
        </p:nvSpPr>
        <p:spPr>
          <a:xfrm>
            <a:off x="292608" y="2980944"/>
            <a:ext cx="2743200" cy="50292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6" name="Shape 25"/>
          <p:cNvSpPr/>
          <p:nvPr/>
        </p:nvSpPr>
        <p:spPr>
          <a:xfrm>
            <a:off x="292608" y="2980944"/>
            <a:ext cx="5029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7" name="Text 26"/>
          <p:cNvSpPr/>
          <p:nvPr/>
        </p:nvSpPr>
        <p:spPr>
          <a:xfrm>
            <a:off x="402336" y="30266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1050" dirty="0"/>
          </a:p>
        </p:txBody>
      </p:sp>
      <p:sp>
        <p:nvSpPr>
          <p:cNvPr id="88" name="Shape 27"/>
          <p:cNvSpPr/>
          <p:nvPr/>
        </p:nvSpPr>
        <p:spPr>
          <a:xfrm>
            <a:off x="402336" y="3282696"/>
            <a:ext cx="2377440" cy="10972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89" name="Shape 28"/>
          <p:cNvSpPr/>
          <p:nvPr/>
        </p:nvSpPr>
        <p:spPr>
          <a:xfrm>
            <a:off x="402336" y="3282696"/>
            <a:ext cx="1759306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0" name="Text 29"/>
          <p:cNvSpPr/>
          <p:nvPr/>
        </p:nvSpPr>
        <p:spPr>
          <a:xfrm>
            <a:off x="2624328" y="30266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300" dirty="0"/>
          </a:p>
        </p:txBody>
      </p:sp>
      <p:sp>
        <p:nvSpPr>
          <p:cNvPr id="91" name="Shape 30"/>
          <p:cNvSpPr/>
          <p:nvPr/>
        </p:nvSpPr>
        <p:spPr>
          <a:xfrm>
            <a:off x="292608" y="3511296"/>
            <a:ext cx="2743200" cy="50292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2" name="Shape 31"/>
          <p:cNvSpPr/>
          <p:nvPr/>
        </p:nvSpPr>
        <p:spPr>
          <a:xfrm>
            <a:off x="292608" y="3511296"/>
            <a:ext cx="50292" cy="50292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93" name="Text 32"/>
          <p:cNvSpPr/>
          <p:nvPr/>
        </p:nvSpPr>
        <p:spPr>
          <a:xfrm>
            <a:off x="402336" y="3557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94" name="Shape 33"/>
          <p:cNvSpPr/>
          <p:nvPr/>
        </p:nvSpPr>
        <p:spPr>
          <a:xfrm>
            <a:off x="402336" y="3813048"/>
            <a:ext cx="2377440" cy="10972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95" name="Shape 34"/>
          <p:cNvSpPr/>
          <p:nvPr/>
        </p:nvSpPr>
        <p:spPr>
          <a:xfrm>
            <a:off x="402336" y="3813048"/>
            <a:ext cx="1569110" cy="1097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96" name="Text 35"/>
          <p:cNvSpPr/>
          <p:nvPr/>
        </p:nvSpPr>
        <p:spPr>
          <a:xfrm>
            <a:off x="2624328" y="35570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300" dirty="0"/>
          </a:p>
        </p:txBody>
      </p:sp>
      <p:sp>
        <p:nvSpPr>
          <p:cNvPr id="97" name="Shape 36"/>
          <p:cNvSpPr/>
          <p:nvPr/>
        </p:nvSpPr>
        <p:spPr>
          <a:xfrm>
            <a:off x="292608" y="4114800"/>
            <a:ext cx="2743200" cy="402336"/>
          </a:xfrm>
          <a:prstGeom prst="rect">
            <a:avLst/>
          </a:prstGeom>
          <a:solidFill>
            <a:srgbClr val="0D1117"/>
          </a:solidFill>
          <a:ln w="9525">
            <a:solidFill>
              <a:srgbClr val="F0A5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8" name="Text 37"/>
          <p:cNvSpPr/>
          <p:nvPr/>
        </p:nvSpPr>
        <p:spPr>
          <a:xfrm>
            <a:off x="402336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</a:t>
            </a:r>
            <a:endParaRPr lang="en-US" sz="950" dirty="0"/>
          </a:p>
        </p:txBody>
      </p:sp>
      <p:sp>
        <p:nvSpPr>
          <p:cNvPr id="99" name="Text 38"/>
          <p:cNvSpPr/>
          <p:nvPr/>
        </p:nvSpPr>
        <p:spPr>
          <a:xfrm>
            <a:off x="1783080" y="416966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63/100 — MEDIUM-HIGH RISK</a:t>
            </a:r>
            <a:endParaRPr lang="en-US" sz="950" dirty="0"/>
          </a:p>
        </p:txBody>
      </p:sp>
      <p:sp>
        <p:nvSpPr>
          <p:cNvPr id="100" name="Shape 39"/>
          <p:cNvSpPr/>
          <p:nvPr/>
        </p:nvSpPr>
        <p:spPr>
          <a:xfrm>
            <a:off x="3218688" y="1115568"/>
            <a:ext cx="5632704" cy="1956816"/>
          </a:xfrm>
          <a:prstGeom prst="rect">
            <a:avLst/>
          </a:prstGeom>
          <a:solidFill>
            <a:srgbClr val="0D1117"/>
          </a:solidFill>
          <a:ln w="9525">
            <a:solidFill>
              <a:srgbClr val="F0A5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1" name="Text 40"/>
          <p:cNvSpPr/>
          <p:nvPr/>
        </p:nvSpPr>
        <p:spPr>
          <a:xfrm>
            <a:off x="3328416" y="11887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 smtClean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</a:t>
            </a:r>
            <a:r>
              <a:rPr lang="en-US" sz="1000" b="1" kern="0" spc="1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2" name="Shape 41"/>
          <p:cNvSpPr/>
          <p:nvPr/>
        </p:nvSpPr>
        <p:spPr>
          <a:xfrm>
            <a:off x="3328416" y="1499616"/>
            <a:ext cx="5394960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3" name="Text 42"/>
          <p:cNvSpPr/>
          <p:nvPr/>
        </p:nvSpPr>
        <p:spPr>
          <a:xfrm>
            <a:off x="3328416" y="149961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</a:t>
            </a:r>
            <a:endParaRPr lang="en-US" sz="1800" dirty="0"/>
          </a:p>
        </p:txBody>
      </p:sp>
      <p:sp>
        <p:nvSpPr>
          <p:cNvPr id="104" name="Text 43"/>
          <p:cNvSpPr/>
          <p:nvPr/>
        </p:nvSpPr>
        <p:spPr>
          <a:xfrm>
            <a:off x="3328416" y="2011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Limit:</a:t>
            </a:r>
            <a:endParaRPr lang="en-US" sz="900" dirty="0"/>
          </a:p>
        </p:txBody>
      </p:sp>
      <p:sp>
        <p:nvSpPr>
          <p:cNvPr id="105" name="Text 44"/>
          <p:cNvSpPr/>
          <p:nvPr/>
        </p:nvSpPr>
        <p:spPr>
          <a:xfrm>
            <a:off x="4572000" y="20116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 Crore  (vs ₹15 Cr requested  ·  57% of ask)</a:t>
            </a:r>
            <a:endParaRPr lang="en-US" sz="900" dirty="0"/>
          </a:p>
        </p:txBody>
      </p:sp>
      <p:sp>
        <p:nvSpPr>
          <p:cNvPr id="106" name="Text 45"/>
          <p:cNvSpPr/>
          <p:nvPr/>
        </p:nvSpPr>
        <p:spPr>
          <a:xfrm>
            <a:off x="3328416" y="2258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Rate:</a:t>
            </a:r>
            <a:endParaRPr lang="en-US" sz="900" dirty="0"/>
          </a:p>
        </p:txBody>
      </p:sp>
      <p:sp>
        <p:nvSpPr>
          <p:cNvPr id="107" name="Text 46"/>
          <p:cNvSpPr/>
          <p:nvPr/>
        </p:nvSpPr>
        <p:spPr>
          <a:xfrm>
            <a:off x="4572000" y="22585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MCLR + 2.75%  (~11.5% p.a.)</a:t>
            </a:r>
            <a:endParaRPr lang="en-US" sz="900" dirty="0"/>
          </a:p>
        </p:txBody>
      </p:sp>
      <p:sp>
        <p:nvSpPr>
          <p:cNvPr id="108" name="Text 47"/>
          <p:cNvSpPr/>
          <p:nvPr/>
        </p:nvSpPr>
        <p:spPr>
          <a:xfrm>
            <a:off x="3328416" y="2505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Tenor:</a:t>
            </a:r>
            <a:endParaRPr lang="en-US" sz="900" dirty="0"/>
          </a:p>
        </p:txBody>
      </p:sp>
      <p:sp>
        <p:nvSpPr>
          <p:cNvPr id="109" name="Text 48"/>
          <p:cNvSpPr/>
          <p:nvPr/>
        </p:nvSpPr>
        <p:spPr>
          <a:xfrm>
            <a:off x="4572000" y="25054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900" dirty="0"/>
          </a:p>
        </p:txBody>
      </p:sp>
      <p:sp>
        <p:nvSpPr>
          <p:cNvPr id="110" name="Text 49"/>
          <p:cNvSpPr/>
          <p:nvPr/>
        </p:nvSpPr>
        <p:spPr>
          <a:xfrm>
            <a:off x="3328416" y="27523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900" dirty="0"/>
          </a:p>
        </p:txBody>
      </p:sp>
      <p:sp>
        <p:nvSpPr>
          <p:cNvPr id="111" name="Text 50"/>
          <p:cNvSpPr/>
          <p:nvPr/>
        </p:nvSpPr>
        <p:spPr>
          <a:xfrm>
            <a:off x="4572000" y="2752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property (₹38 Cr)  +  Promoter personal guarantee</a:t>
            </a:r>
            <a:endParaRPr lang="en-US" sz="900" dirty="0"/>
          </a:p>
        </p:txBody>
      </p:sp>
      <p:sp>
        <p:nvSpPr>
          <p:cNvPr id="112" name="Shape 51"/>
          <p:cNvSpPr/>
          <p:nvPr/>
        </p:nvSpPr>
        <p:spPr>
          <a:xfrm>
            <a:off x="3218688" y="3145536"/>
            <a:ext cx="2706624" cy="1371600"/>
          </a:xfrm>
          <a:prstGeom prst="rect">
            <a:avLst/>
          </a:prstGeom>
          <a:solidFill>
            <a:srgbClr val="0D1117"/>
          </a:solidFill>
          <a:ln w="9525">
            <a:solidFill>
              <a:srgbClr val="3D8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3" name="Text 52"/>
          <p:cNvSpPr/>
          <p:nvPr/>
        </p:nvSpPr>
        <p:spPr>
          <a:xfrm>
            <a:off x="3328416" y="32186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114" name="Text 53"/>
          <p:cNvSpPr/>
          <p:nvPr/>
        </p:nvSpPr>
        <p:spPr>
          <a:xfrm>
            <a:off x="3328416" y="3511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litigation</a:t>
            </a:r>
            <a:endParaRPr lang="en-US" sz="850" dirty="0"/>
          </a:p>
        </p:txBody>
      </p:sp>
      <p:sp>
        <p:nvSpPr>
          <p:cNvPr id="115" name="Text 54"/>
          <p:cNvSpPr/>
          <p:nvPr/>
        </p:nvSpPr>
        <p:spPr>
          <a:xfrm>
            <a:off x="5248656" y="35112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 pts</a:t>
            </a:r>
            <a:endParaRPr lang="en-US" sz="850" dirty="0"/>
          </a:p>
        </p:txBody>
      </p:sp>
      <p:sp>
        <p:nvSpPr>
          <p:cNvPr id="116" name="Text 55"/>
          <p:cNvSpPr/>
          <p:nvPr/>
        </p:nvSpPr>
        <p:spPr>
          <a:xfrm>
            <a:off x="3328416" y="3712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inflation anomaly</a:t>
            </a:r>
            <a:endParaRPr lang="en-US" sz="850" dirty="0"/>
          </a:p>
        </p:txBody>
      </p:sp>
      <p:sp>
        <p:nvSpPr>
          <p:cNvPr id="117" name="Text 56"/>
          <p:cNvSpPr/>
          <p:nvPr/>
        </p:nvSpPr>
        <p:spPr>
          <a:xfrm>
            <a:off x="5248656" y="37124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 pts</a:t>
            </a:r>
            <a:endParaRPr lang="en-US" sz="850" dirty="0"/>
          </a:p>
        </p:txBody>
      </p:sp>
      <p:sp>
        <p:nvSpPr>
          <p:cNvPr id="118" name="Text 57"/>
          <p:cNvSpPr/>
          <p:nvPr/>
        </p:nvSpPr>
        <p:spPr>
          <a:xfrm>
            <a:off x="3328416" y="3913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utilisation</a:t>
            </a:r>
            <a:endParaRPr lang="en-US" sz="850" dirty="0"/>
          </a:p>
        </p:txBody>
      </p:sp>
      <p:sp>
        <p:nvSpPr>
          <p:cNvPr id="119" name="Text 58"/>
          <p:cNvSpPr/>
          <p:nvPr/>
        </p:nvSpPr>
        <p:spPr>
          <a:xfrm>
            <a:off x="5248656" y="39136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pts</a:t>
            </a:r>
            <a:endParaRPr lang="en-US" sz="850" dirty="0"/>
          </a:p>
        </p:txBody>
      </p:sp>
      <p:sp>
        <p:nvSpPr>
          <p:cNvPr id="120" name="Text 59"/>
          <p:cNvSpPr/>
          <p:nvPr/>
        </p:nvSpPr>
        <p:spPr>
          <a:xfrm>
            <a:off x="3328416" y="4114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coverage</a:t>
            </a:r>
            <a:endParaRPr lang="en-US" sz="850" dirty="0"/>
          </a:p>
        </p:txBody>
      </p:sp>
      <p:sp>
        <p:nvSpPr>
          <p:cNvPr id="121" name="Text 60"/>
          <p:cNvSpPr/>
          <p:nvPr/>
        </p:nvSpPr>
        <p:spPr>
          <a:xfrm>
            <a:off x="5248656" y="4114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pts</a:t>
            </a:r>
            <a:endParaRPr lang="en-US" sz="850" dirty="0"/>
          </a:p>
        </p:txBody>
      </p:sp>
      <p:sp>
        <p:nvSpPr>
          <p:cNvPr id="122" name="Text 61"/>
          <p:cNvSpPr/>
          <p:nvPr/>
        </p:nvSpPr>
        <p:spPr>
          <a:xfrm>
            <a:off x="3328416" y="43159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outlook (ICRA)</a:t>
            </a:r>
            <a:endParaRPr lang="en-US" sz="850" dirty="0"/>
          </a:p>
        </p:txBody>
      </p:sp>
      <p:sp>
        <p:nvSpPr>
          <p:cNvPr id="123" name="Text 62"/>
          <p:cNvSpPr/>
          <p:nvPr/>
        </p:nvSpPr>
        <p:spPr>
          <a:xfrm>
            <a:off x="524865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pts</a:t>
            </a:r>
            <a:endParaRPr lang="en-US" sz="850" dirty="0"/>
          </a:p>
        </p:txBody>
      </p:sp>
      <p:sp>
        <p:nvSpPr>
          <p:cNvPr id="124" name="Shape 63"/>
          <p:cNvSpPr/>
          <p:nvPr/>
        </p:nvSpPr>
        <p:spPr>
          <a:xfrm>
            <a:off x="6016752" y="3145536"/>
            <a:ext cx="2834640" cy="1371600"/>
          </a:xfrm>
          <a:prstGeom prst="rect">
            <a:avLst/>
          </a:prstGeom>
          <a:solidFill>
            <a:srgbClr val="0D1117"/>
          </a:solidFill>
          <a:ln w="9525">
            <a:solidFill>
              <a:srgbClr val="F0A5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5" name="Text 64"/>
          <p:cNvSpPr/>
          <p:nvPr/>
        </p:nvSpPr>
        <p:spPr>
          <a:xfrm>
            <a:off x="6108192" y="3218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</a:t>
            </a: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126" name="Text 65"/>
          <p:cNvSpPr/>
          <p:nvPr/>
        </p:nvSpPr>
        <p:spPr>
          <a:xfrm>
            <a:off x="6108192" y="35112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Quarterly stock audit (bank-appointed)</a:t>
            </a:r>
            <a:endParaRPr lang="en-US" sz="850" dirty="0"/>
          </a:p>
        </p:txBody>
      </p:sp>
      <p:sp>
        <p:nvSpPr>
          <p:cNvPr id="127" name="Text 66"/>
          <p:cNvSpPr/>
          <p:nvPr/>
        </p:nvSpPr>
        <p:spPr>
          <a:xfrm>
            <a:off x="6108192" y="3712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 GST reconciliation submission</a:t>
            </a:r>
            <a:endParaRPr lang="en-US" sz="850" dirty="0"/>
          </a:p>
        </p:txBody>
      </p:sp>
      <p:sp>
        <p:nvSpPr>
          <p:cNvPr id="128" name="Text 67"/>
          <p:cNvSpPr/>
          <p:nvPr/>
        </p:nvSpPr>
        <p:spPr>
          <a:xfrm>
            <a:off x="6108192" y="39136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Promoter personal guarantee mandatory</a:t>
            </a:r>
            <a:endParaRPr lang="en-US" sz="850" dirty="0"/>
          </a:p>
        </p:txBody>
      </p:sp>
      <p:sp>
        <p:nvSpPr>
          <p:cNvPr id="129" name="Text 68"/>
          <p:cNvSpPr/>
          <p:nvPr/>
        </p:nvSpPr>
        <p:spPr>
          <a:xfrm>
            <a:off x="6108192" y="41148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dividend without bank NOC</a:t>
            </a:r>
            <a:endParaRPr lang="en-US" sz="850" dirty="0"/>
          </a:p>
        </p:txBody>
      </p:sp>
      <p:sp>
        <p:nvSpPr>
          <p:cNvPr id="130" name="Text 69"/>
          <p:cNvSpPr/>
          <p:nvPr/>
        </p:nvSpPr>
        <p:spPr>
          <a:xfrm>
            <a:off x="6108192" y="4315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Trigger review if DSCR &lt; 1.20x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4" name="Text 3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850" dirty="0"/>
          </a:p>
        </p:txBody>
      </p:sp>
      <p:sp>
        <p:nvSpPr>
          <p:cNvPr id="135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Technology Stack</a:t>
            </a:r>
            <a:endParaRPr lang="en-US" sz="2300" dirty="0"/>
          </a:p>
        </p:txBody>
      </p:sp>
      <p:sp>
        <p:nvSpPr>
          <p:cNvPr id="205" name="Shape 74"/>
          <p:cNvSpPr/>
          <p:nvPr/>
        </p:nvSpPr>
        <p:spPr>
          <a:xfrm>
            <a:off x="164592" y="4752819"/>
            <a:ext cx="8631936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6" name="Text 75"/>
          <p:cNvSpPr/>
          <p:nvPr/>
        </p:nvSpPr>
        <p:spPr>
          <a:xfrm>
            <a:off x="347472" y="4798539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 React  ·  Claude API (Anthropic)  ·  FastAPI  ·  Databricks  ·  LangChain  ·  XGBoost  ·  SHAP  ·  Tavily  ·  FAISS  ·  python-docx</a:t>
            </a:r>
            <a:endParaRPr lang="en-US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" y="960119"/>
            <a:ext cx="8515769" cy="3676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5"/>
          <p:cNvSpPr/>
          <p:nvPr/>
        </p:nvSpPr>
        <p:spPr>
          <a:xfrm>
            <a:off x="3182110" y="3849366"/>
            <a:ext cx="2743200" cy="38404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15"/>
          <p:cNvSpPr/>
          <p:nvPr/>
        </p:nvSpPr>
        <p:spPr>
          <a:xfrm>
            <a:off x="6089904" y="3849366"/>
            <a:ext cx="2743200" cy="38404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Shape 15"/>
          <p:cNvSpPr/>
          <p:nvPr/>
        </p:nvSpPr>
        <p:spPr>
          <a:xfrm>
            <a:off x="297180" y="3840480"/>
            <a:ext cx="2743200" cy="38404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LIVE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Prototype — Working End-to-End Demo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74320" y="3246120"/>
            <a:ext cx="2743200" cy="38404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46120"/>
            <a:ext cx="457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Step 1: Upload &amp; Extract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7124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Drop PDFs, GST files &amp; bank statements → AI extraction with GST reconciliation table showing circular trading flags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82112" y="3246120"/>
            <a:ext cx="2743200" cy="38404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82112" y="3246120"/>
            <a:ext cx="4572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Step 2: Research Agent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27832" y="37124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Watch agent crawl eCourts, MCA, news in real-time → Findings ranked by risk relevance with source attribution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89904" y="3246120"/>
            <a:ext cx="2743200" cy="38404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9904" y="3246120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1344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Step 3: CAM &amp; Decision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35624" y="37124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Five Cs scoring cards + SHAP explainability + full Credit Appraisal Memo downloadable as PDF/DOCX</a:t>
            </a:r>
            <a:endParaRPr lang="en-US" sz="8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4" r="14000" b="5790"/>
          <a:stretch/>
        </p:blipFill>
        <p:spPr bwMode="auto">
          <a:xfrm>
            <a:off x="274320" y="1143000"/>
            <a:ext cx="2743200" cy="2011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82" r="14122" b="4750"/>
          <a:stretch/>
        </p:blipFill>
        <p:spPr bwMode="auto">
          <a:xfrm>
            <a:off x="3182110" y="1151114"/>
            <a:ext cx="2743201" cy="2011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5" r="14362" b="5250"/>
          <a:stretch/>
        </p:blipFill>
        <p:spPr bwMode="auto">
          <a:xfrm>
            <a:off x="6089905" y="1151114"/>
            <a:ext cx="2743200" cy="2011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Text 3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FUNCTIONALITY</a:t>
            </a:r>
            <a:endParaRPr lang="en-US" sz="850" dirty="0"/>
          </a:p>
        </p:txBody>
      </p:sp>
      <p:sp>
        <p:nvSpPr>
          <p:cNvPr id="53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Can Do — Right Now</a:t>
            </a:r>
            <a:endParaRPr lang="en-US" sz="2300" dirty="0"/>
          </a:p>
        </p:txBody>
      </p:sp>
      <p:sp>
        <p:nvSpPr>
          <p:cNvPr id="54" name="Shape 5"/>
          <p:cNvSpPr/>
          <p:nvPr/>
        </p:nvSpPr>
        <p:spPr>
          <a:xfrm>
            <a:off x="292608" y="1133856"/>
            <a:ext cx="4279392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5" name="Shape 6"/>
          <p:cNvSpPr/>
          <p:nvPr/>
        </p:nvSpPr>
        <p:spPr>
          <a:xfrm>
            <a:off x="292608" y="1133856"/>
            <a:ext cx="50292" cy="10058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56" name="Text 7"/>
          <p:cNvSpPr/>
          <p:nvPr/>
        </p:nvSpPr>
        <p:spPr>
          <a:xfrm>
            <a:off x="420624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7" name="Text 8"/>
          <p:cNvSpPr/>
          <p:nvPr/>
        </p:nvSpPr>
        <p:spPr>
          <a:xfrm>
            <a:off x="89611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 Ingestion</a:t>
            </a:r>
            <a:endParaRPr lang="en-US" sz="1300" dirty="0"/>
          </a:p>
        </p:txBody>
      </p:sp>
      <p:sp>
        <p:nvSpPr>
          <p:cNvPr id="58" name="Text 9"/>
          <p:cNvSpPr/>
          <p:nvPr/>
        </p:nvSpPr>
        <p:spPr>
          <a:xfrm>
            <a:off x="896112" y="15361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XLSX, scanned images. AI extracts structured fields from unstructured documents using LLM+OCR pipeline.</a:t>
            </a:r>
            <a:endParaRPr lang="en-US" sz="900" dirty="0"/>
          </a:p>
        </p:txBody>
      </p:sp>
      <p:sp>
        <p:nvSpPr>
          <p:cNvPr id="59" name="Shape 10"/>
          <p:cNvSpPr/>
          <p:nvPr/>
        </p:nvSpPr>
        <p:spPr>
          <a:xfrm>
            <a:off x="4718304" y="1133856"/>
            <a:ext cx="4279392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0" name="Shape 11"/>
          <p:cNvSpPr/>
          <p:nvPr/>
        </p:nvSpPr>
        <p:spPr>
          <a:xfrm>
            <a:off x="4718304" y="1133856"/>
            <a:ext cx="50292" cy="1005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1" name="Text 12"/>
          <p:cNvSpPr/>
          <p:nvPr/>
        </p:nvSpPr>
        <p:spPr>
          <a:xfrm>
            <a:off x="484632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2" name="Text 13"/>
          <p:cNvSpPr/>
          <p:nvPr/>
        </p:nvSpPr>
        <p:spPr>
          <a:xfrm>
            <a:off x="5321808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Cross-Validation</a:t>
            </a:r>
            <a:endParaRPr lang="en-US" sz="1300" dirty="0"/>
          </a:p>
        </p:txBody>
      </p:sp>
      <p:sp>
        <p:nvSpPr>
          <p:cNvPr id="63" name="Text 14"/>
          <p:cNvSpPr/>
          <p:nvPr/>
        </p:nvSpPr>
        <p:spPr>
          <a:xfrm>
            <a:off x="5321808" y="15361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reconciles GSTR-3B vs GSTR-2A vs bank credits. Flags revenue inflation anomalies with exact % deviation.</a:t>
            </a:r>
            <a:endParaRPr lang="en-US" sz="900" dirty="0"/>
          </a:p>
        </p:txBody>
      </p:sp>
      <p:sp>
        <p:nvSpPr>
          <p:cNvPr id="64" name="Shape 15"/>
          <p:cNvSpPr/>
          <p:nvPr/>
        </p:nvSpPr>
        <p:spPr>
          <a:xfrm>
            <a:off x="292608" y="2249424"/>
            <a:ext cx="4279392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5" name="Shape 16"/>
          <p:cNvSpPr/>
          <p:nvPr/>
        </p:nvSpPr>
        <p:spPr>
          <a:xfrm>
            <a:off x="292608" y="2249424"/>
            <a:ext cx="50292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6" name="Text 17"/>
          <p:cNvSpPr/>
          <p:nvPr/>
        </p:nvSpPr>
        <p:spPr>
          <a:xfrm>
            <a:off x="420624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7" name="Text 18"/>
          <p:cNvSpPr/>
          <p:nvPr/>
        </p:nvSpPr>
        <p:spPr>
          <a:xfrm>
            <a:off x="896112" y="2340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Research</a:t>
            </a:r>
            <a:endParaRPr lang="en-US" sz="1300" dirty="0"/>
          </a:p>
        </p:txBody>
      </p:sp>
      <p:sp>
        <p:nvSpPr>
          <p:cNvPr id="68" name="Text 19"/>
          <p:cNvSpPr/>
          <p:nvPr/>
        </p:nvSpPr>
        <p:spPr>
          <a:xfrm>
            <a:off x="896112" y="26517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crawls 7 sources in &lt;90 seconds: eCourts, MCA21, SFIO, news, ICRA. All findings ranked by risk relevance.</a:t>
            </a:r>
            <a:endParaRPr lang="en-US" sz="900" dirty="0"/>
          </a:p>
        </p:txBody>
      </p:sp>
      <p:sp>
        <p:nvSpPr>
          <p:cNvPr id="69" name="Shape 20"/>
          <p:cNvSpPr/>
          <p:nvPr/>
        </p:nvSpPr>
        <p:spPr>
          <a:xfrm>
            <a:off x="4718304" y="2249424"/>
            <a:ext cx="4279392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0" name="Shape 21"/>
          <p:cNvSpPr/>
          <p:nvPr/>
        </p:nvSpPr>
        <p:spPr>
          <a:xfrm>
            <a:off x="4718304" y="2249424"/>
            <a:ext cx="50292" cy="1005840"/>
          </a:xfrm>
          <a:prstGeom prst="rect">
            <a:avLst/>
          </a:prstGeom>
          <a:solidFill>
            <a:srgbClr val="E8455A"/>
          </a:solidFill>
          <a:ln w="12700">
            <a:solidFill>
              <a:srgbClr val="E8455A"/>
            </a:solidFill>
            <a:prstDash val="solid"/>
          </a:ln>
        </p:spPr>
      </p:sp>
      <p:sp>
        <p:nvSpPr>
          <p:cNvPr id="71" name="Text 22"/>
          <p:cNvSpPr/>
          <p:nvPr/>
        </p:nvSpPr>
        <p:spPr>
          <a:xfrm>
            <a:off x="484632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2" name="Text 23"/>
          <p:cNvSpPr/>
          <p:nvPr/>
        </p:nvSpPr>
        <p:spPr>
          <a:xfrm>
            <a:off x="5321808" y="2340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Adjustment</a:t>
            </a:r>
            <a:endParaRPr lang="en-US" sz="1300" dirty="0"/>
          </a:p>
        </p:txBody>
      </p:sp>
      <p:sp>
        <p:nvSpPr>
          <p:cNvPr id="73" name="Text 24"/>
          <p:cNvSpPr/>
          <p:nvPr/>
        </p:nvSpPr>
        <p:spPr>
          <a:xfrm>
            <a:off x="5321808" y="26517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officers input site-visit notes. NLP parses sentiment and re-calibrates the risk score in real-time with full transparency.</a:t>
            </a:r>
            <a:endParaRPr lang="en-US" sz="900" dirty="0"/>
          </a:p>
        </p:txBody>
      </p:sp>
      <p:sp>
        <p:nvSpPr>
          <p:cNvPr id="74" name="Shape 25"/>
          <p:cNvSpPr/>
          <p:nvPr/>
        </p:nvSpPr>
        <p:spPr>
          <a:xfrm>
            <a:off x="292608" y="3364992"/>
            <a:ext cx="4279392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5" name="Shape 26"/>
          <p:cNvSpPr/>
          <p:nvPr/>
        </p:nvSpPr>
        <p:spPr>
          <a:xfrm>
            <a:off x="292608" y="3364992"/>
            <a:ext cx="50292" cy="10058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76" name="Text 27"/>
          <p:cNvSpPr/>
          <p:nvPr/>
        </p:nvSpPr>
        <p:spPr>
          <a:xfrm>
            <a:off x="420624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7" name="Text 28"/>
          <p:cNvSpPr/>
          <p:nvPr/>
        </p:nvSpPr>
        <p:spPr>
          <a:xfrm>
            <a:off x="896112" y="3456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300" dirty="0"/>
          </a:p>
        </p:txBody>
      </p:sp>
      <p:sp>
        <p:nvSpPr>
          <p:cNvPr id="78" name="Text 29"/>
          <p:cNvSpPr/>
          <p:nvPr/>
        </p:nvSpPr>
        <p:spPr>
          <a:xfrm>
            <a:off x="896112" y="37673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factor attribution for every decision. No black box — each point added/deducted is shown with source and reason.</a:t>
            </a:r>
            <a:endParaRPr lang="en-US" sz="900" dirty="0"/>
          </a:p>
        </p:txBody>
      </p:sp>
      <p:sp>
        <p:nvSpPr>
          <p:cNvPr id="79" name="Shape 30"/>
          <p:cNvSpPr/>
          <p:nvPr/>
        </p:nvSpPr>
        <p:spPr>
          <a:xfrm>
            <a:off x="4718304" y="3364992"/>
            <a:ext cx="4279392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0" name="Shape 31"/>
          <p:cNvSpPr/>
          <p:nvPr/>
        </p:nvSpPr>
        <p:spPr>
          <a:xfrm>
            <a:off x="4718304" y="3364992"/>
            <a:ext cx="50292" cy="1005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1" name="Text 32"/>
          <p:cNvSpPr/>
          <p:nvPr/>
        </p:nvSpPr>
        <p:spPr>
          <a:xfrm>
            <a:off x="484632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Text 33"/>
          <p:cNvSpPr/>
          <p:nvPr/>
        </p:nvSpPr>
        <p:spPr>
          <a:xfrm>
            <a:off x="5321808" y="3456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CAM Output</a:t>
            </a:r>
            <a:endParaRPr lang="en-US" sz="1300" dirty="0"/>
          </a:p>
        </p:txBody>
      </p:sp>
      <p:sp>
        <p:nvSpPr>
          <p:cNvPr id="83" name="Text 34"/>
          <p:cNvSpPr/>
          <p:nvPr/>
        </p:nvSpPr>
        <p:spPr>
          <a:xfrm>
            <a:off x="5321808" y="37673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generates a bank-grade Credit Appraisal Memo covering Five Cs. Downloadable as PDF or DOCX in seconds.</a:t>
            </a:r>
            <a:endParaRPr lang="en-US" sz="900" dirty="0"/>
          </a:p>
        </p:txBody>
      </p:sp>
      <p:pic>
        <p:nvPicPr>
          <p:cNvPr id="6146" name="Picture 2" descr="Open folder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128016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obot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59" y="256946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6" descr="Brainstorm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3511296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aper pin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993" y="128016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Chat box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410" y="256946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4" descr="Documents 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896" y="3493008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59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DIFFERENTIATORS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IntelliCredit Wins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187952" cy="109728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45720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126187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India-First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58191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Built specifically for GSTR-2A vs 3B, CIBIL Commercial, DRT recovery, MCA21, and RBI regulatory parsing — not a generic global tool.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187952" cy="109728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70432"/>
            <a:ext cx="4572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126187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AI, Not a Black Box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58191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Every decision comes with SHAP-based factor attribution. Judges, regulators and borrowers can see exactly why a limit was set.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04872"/>
            <a:ext cx="4187952" cy="109728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04872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249631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in One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81635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From raw scanned PDFs to a signed-off Credit Appraisal Memo — no human hand-offs, no spreadsheet exports, no tool-switching.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404872"/>
            <a:ext cx="4187952" cy="109728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04872"/>
            <a:ext cx="45720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94960" y="249631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Multi-Source Synthesis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81635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Uniquely cross-links GST data with bank flows, corroborates with eCourts and MCA filings, and validates against live news — all automatically.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4187952" cy="109728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39312"/>
            <a:ext cx="4572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05840" y="37307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05079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Credit officers can inject qualitative site-visit notes at any point. The AI recalibrates the risk score transparently around human insight.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4187952" cy="1097280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39312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94960" y="37307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CAM-Ready Output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405079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Generates a bank-grade Credit Appraisal Memo (Word/PDF) meeting RBI guidelines — ready to submit to credit committee on Day 1.</a:t>
            </a:r>
            <a:endParaRPr lang="en-US" sz="850" dirty="0"/>
          </a:p>
        </p:txBody>
      </p:sp>
      <p:pic>
        <p:nvPicPr>
          <p:cNvPr id="7170" name="Picture 2" descr="India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" y="155448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Light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" y="261518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lanet earth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" y="3867912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Brainstorm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468" y="155448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Paper pin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468" y="2546604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Documents 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896" y="3867431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&amp; SCALABILITY</a:t>
            </a:r>
            <a:endParaRPr lang="en-US" sz="850" dirty="0"/>
          </a:p>
        </p:txBody>
      </p:sp>
      <p:sp>
        <p:nvSpPr>
          <p:cNvPr id="38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&amp; Deployment Path</a:t>
            </a:r>
            <a:endParaRPr lang="en-US" sz="2300" dirty="0"/>
          </a:p>
        </p:txBody>
      </p:sp>
      <p:sp>
        <p:nvSpPr>
          <p:cNvPr id="39" name="Shape 5"/>
          <p:cNvSpPr/>
          <p:nvPr/>
        </p:nvSpPr>
        <p:spPr>
          <a:xfrm>
            <a:off x="292608" y="1078992"/>
            <a:ext cx="2084832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0" name="Shape 6"/>
          <p:cNvSpPr/>
          <p:nvPr/>
        </p:nvSpPr>
        <p:spPr>
          <a:xfrm>
            <a:off x="292608" y="1078992"/>
            <a:ext cx="50292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Text 7"/>
          <p:cNvSpPr/>
          <p:nvPr/>
        </p:nvSpPr>
        <p:spPr>
          <a:xfrm>
            <a:off x="292608" y="113385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₹18.2L Cr</a:t>
            </a:r>
            <a:endParaRPr lang="en-US" sz="2200" dirty="0"/>
          </a:p>
        </p:txBody>
      </p:sp>
      <p:sp>
        <p:nvSpPr>
          <p:cNvPr id="42" name="Text 8"/>
          <p:cNvSpPr/>
          <p:nvPr/>
        </p:nvSpPr>
        <p:spPr>
          <a:xfrm>
            <a:off x="329184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corporate loan book (FY24)</a:t>
            </a:r>
            <a:endParaRPr lang="en-US" sz="850" dirty="0"/>
          </a:p>
        </p:txBody>
      </p:sp>
      <p:sp>
        <p:nvSpPr>
          <p:cNvPr id="43" name="Shape 9"/>
          <p:cNvSpPr/>
          <p:nvPr/>
        </p:nvSpPr>
        <p:spPr>
          <a:xfrm>
            <a:off x="2505456" y="1078992"/>
            <a:ext cx="2084832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4" name="Shape 10"/>
          <p:cNvSpPr/>
          <p:nvPr/>
        </p:nvSpPr>
        <p:spPr>
          <a:xfrm>
            <a:off x="2505456" y="1078992"/>
            <a:ext cx="50292" cy="914400"/>
          </a:xfrm>
          <a:prstGeom prst="rect">
            <a:avLst/>
          </a:prstGeom>
          <a:solidFill>
            <a:srgbClr val="E8455A"/>
          </a:solidFill>
          <a:ln w="12700">
            <a:solidFill>
              <a:srgbClr val="E8455A"/>
            </a:solidFill>
            <a:prstDash val="solid"/>
          </a:ln>
        </p:spPr>
      </p:sp>
      <p:sp>
        <p:nvSpPr>
          <p:cNvPr id="45" name="Text 11"/>
          <p:cNvSpPr/>
          <p:nvPr/>
        </p:nvSpPr>
        <p:spPr>
          <a:xfrm>
            <a:off x="2505456" y="113385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wks</a:t>
            </a:r>
            <a:endParaRPr lang="en-US" sz="2200" dirty="0"/>
          </a:p>
        </p:txBody>
      </p:sp>
      <p:sp>
        <p:nvSpPr>
          <p:cNvPr id="46" name="Text 12"/>
          <p:cNvSpPr/>
          <p:nvPr/>
        </p:nvSpPr>
        <p:spPr>
          <a:xfrm>
            <a:off x="2542032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average appraisal time</a:t>
            </a:r>
            <a:endParaRPr lang="en-US" sz="850" dirty="0"/>
          </a:p>
        </p:txBody>
      </p:sp>
      <p:sp>
        <p:nvSpPr>
          <p:cNvPr id="47" name="Shape 13"/>
          <p:cNvSpPr/>
          <p:nvPr/>
        </p:nvSpPr>
        <p:spPr>
          <a:xfrm>
            <a:off x="4718304" y="1078992"/>
            <a:ext cx="2084832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8" name="Shape 14"/>
          <p:cNvSpPr/>
          <p:nvPr/>
        </p:nvSpPr>
        <p:spPr>
          <a:xfrm>
            <a:off x="4718304" y="1078992"/>
            <a:ext cx="50292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Text 15"/>
          <p:cNvSpPr/>
          <p:nvPr/>
        </p:nvSpPr>
        <p:spPr>
          <a:xfrm>
            <a:off x="4718304" y="113385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min</a:t>
            </a:r>
            <a:endParaRPr lang="en-US" sz="2200" dirty="0"/>
          </a:p>
        </p:txBody>
      </p:sp>
      <p:sp>
        <p:nvSpPr>
          <p:cNvPr id="50" name="Text 16"/>
          <p:cNvSpPr/>
          <p:nvPr/>
        </p:nvSpPr>
        <p:spPr>
          <a:xfrm>
            <a:off x="4754880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IntelliCredit end-to-end time</a:t>
            </a:r>
            <a:endParaRPr lang="en-US" sz="850" dirty="0"/>
          </a:p>
        </p:txBody>
      </p:sp>
      <p:sp>
        <p:nvSpPr>
          <p:cNvPr id="51" name="Shape 17"/>
          <p:cNvSpPr/>
          <p:nvPr/>
        </p:nvSpPr>
        <p:spPr>
          <a:xfrm>
            <a:off x="6931152" y="1078992"/>
            <a:ext cx="2084832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2" name="Shape 18"/>
          <p:cNvSpPr/>
          <p:nvPr/>
        </p:nvSpPr>
        <p:spPr>
          <a:xfrm>
            <a:off x="6931152" y="1078992"/>
            <a:ext cx="50292" cy="9144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53" name="Text 19"/>
          <p:cNvSpPr/>
          <p:nvPr/>
        </p:nvSpPr>
        <p:spPr>
          <a:xfrm>
            <a:off x="6931152" y="113385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₹850 Cr+</a:t>
            </a:r>
            <a:endParaRPr lang="en-US" sz="2200" dirty="0"/>
          </a:p>
        </p:txBody>
      </p:sp>
      <p:sp>
        <p:nvSpPr>
          <p:cNvPr id="54" name="Text 20"/>
          <p:cNvSpPr/>
          <p:nvPr/>
        </p:nvSpPr>
        <p:spPr>
          <a:xfrm>
            <a:off x="6967728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savings potential (est.)</a:t>
            </a:r>
            <a:endParaRPr lang="en-US" sz="850" dirty="0"/>
          </a:p>
        </p:txBody>
      </p:sp>
      <p:sp>
        <p:nvSpPr>
          <p:cNvPr id="55" name="Shape 21"/>
          <p:cNvSpPr/>
          <p:nvPr/>
        </p:nvSpPr>
        <p:spPr>
          <a:xfrm>
            <a:off x="292608" y="2121408"/>
            <a:ext cx="2834640" cy="2340864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6" name="Shape 22"/>
          <p:cNvSpPr/>
          <p:nvPr/>
        </p:nvSpPr>
        <p:spPr>
          <a:xfrm>
            <a:off x="292608" y="2121408"/>
            <a:ext cx="50292" cy="2340864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57" name="Text 23"/>
          <p:cNvSpPr/>
          <p:nvPr/>
        </p:nvSpPr>
        <p:spPr>
          <a:xfrm>
            <a:off x="420624" y="21945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</a:t>
            </a: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It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420624" y="2578608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Public sector banks</a:t>
            </a:r>
            <a:endParaRPr lang="en-US" sz="950" dirty="0"/>
          </a:p>
        </p:txBody>
      </p:sp>
      <p:sp>
        <p:nvSpPr>
          <p:cNvPr id="59" name="Text 25"/>
          <p:cNvSpPr/>
          <p:nvPr/>
        </p:nvSpPr>
        <p:spPr>
          <a:xfrm>
            <a:off x="420624" y="29260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Private sector banks</a:t>
            </a:r>
            <a:endParaRPr lang="en-US" sz="950" dirty="0"/>
          </a:p>
        </p:txBody>
      </p:sp>
      <p:sp>
        <p:nvSpPr>
          <p:cNvPr id="60" name="Text 26"/>
          <p:cNvSpPr/>
          <p:nvPr/>
        </p:nvSpPr>
        <p:spPr>
          <a:xfrm>
            <a:off x="420624" y="32735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NBFCs &amp; HFCs</a:t>
            </a:r>
            <a:endParaRPr lang="en-US" sz="950" dirty="0"/>
          </a:p>
        </p:txBody>
      </p:sp>
      <p:sp>
        <p:nvSpPr>
          <p:cNvPr id="61" name="Text 27"/>
          <p:cNvSpPr/>
          <p:nvPr/>
        </p:nvSpPr>
        <p:spPr>
          <a:xfrm>
            <a:off x="420624" y="3621024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Fintech lenders</a:t>
            </a:r>
            <a:endParaRPr lang="en-US" sz="950" dirty="0"/>
          </a:p>
        </p:txBody>
      </p:sp>
      <p:sp>
        <p:nvSpPr>
          <p:cNvPr id="62" name="Text 28"/>
          <p:cNvSpPr/>
          <p:nvPr/>
        </p:nvSpPr>
        <p:spPr>
          <a:xfrm>
            <a:off x="420624" y="39684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RBI supervisors</a:t>
            </a:r>
            <a:endParaRPr lang="en-US" sz="950" dirty="0"/>
          </a:p>
        </p:txBody>
      </p:sp>
      <p:sp>
        <p:nvSpPr>
          <p:cNvPr id="63" name="Shape 29"/>
          <p:cNvSpPr/>
          <p:nvPr/>
        </p:nvSpPr>
        <p:spPr>
          <a:xfrm>
            <a:off x="3273552" y="2121408"/>
            <a:ext cx="2834640" cy="2340864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4" name="Shape 30"/>
          <p:cNvSpPr/>
          <p:nvPr/>
        </p:nvSpPr>
        <p:spPr>
          <a:xfrm>
            <a:off x="3273552" y="2121408"/>
            <a:ext cx="50292" cy="2340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5" name="Text 31"/>
          <p:cNvSpPr/>
          <p:nvPr/>
        </p:nvSpPr>
        <p:spPr>
          <a:xfrm>
            <a:off x="3401568" y="21945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</a:t>
            </a: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66" name="Text 32"/>
          <p:cNvSpPr/>
          <p:nvPr/>
        </p:nvSpPr>
        <p:spPr>
          <a:xfrm>
            <a:off x="3401568" y="2578608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Microservices architecture</a:t>
            </a:r>
            <a:endParaRPr lang="en-US" sz="950" dirty="0"/>
          </a:p>
        </p:txBody>
      </p:sp>
      <p:sp>
        <p:nvSpPr>
          <p:cNvPr id="67" name="Text 33"/>
          <p:cNvSpPr/>
          <p:nvPr/>
        </p:nvSpPr>
        <p:spPr>
          <a:xfrm>
            <a:off x="3401568" y="29260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Horizontal scaling on cloud</a:t>
            </a:r>
            <a:endParaRPr lang="en-US" sz="950" dirty="0"/>
          </a:p>
        </p:txBody>
      </p:sp>
      <p:sp>
        <p:nvSpPr>
          <p:cNvPr id="68" name="Text 34"/>
          <p:cNvSpPr/>
          <p:nvPr/>
        </p:nvSpPr>
        <p:spPr>
          <a:xfrm>
            <a:off x="3401568" y="32735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Multi-tenant SaaS model</a:t>
            </a:r>
            <a:endParaRPr lang="en-US" sz="950" dirty="0"/>
          </a:p>
        </p:txBody>
      </p:sp>
      <p:sp>
        <p:nvSpPr>
          <p:cNvPr id="69" name="Text 35"/>
          <p:cNvSpPr/>
          <p:nvPr/>
        </p:nvSpPr>
        <p:spPr>
          <a:xfrm>
            <a:off x="3401568" y="3621024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API-first for CBS integration</a:t>
            </a:r>
            <a:endParaRPr lang="en-US" sz="950" dirty="0"/>
          </a:p>
        </p:txBody>
      </p:sp>
      <p:sp>
        <p:nvSpPr>
          <p:cNvPr id="70" name="Text 36"/>
          <p:cNvSpPr/>
          <p:nvPr/>
        </p:nvSpPr>
        <p:spPr>
          <a:xfrm>
            <a:off x="3401568" y="39684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Databricks for big data</a:t>
            </a:r>
            <a:endParaRPr lang="en-US" sz="950" dirty="0"/>
          </a:p>
        </p:txBody>
      </p:sp>
      <p:sp>
        <p:nvSpPr>
          <p:cNvPr id="71" name="Shape 37"/>
          <p:cNvSpPr/>
          <p:nvPr/>
        </p:nvSpPr>
        <p:spPr>
          <a:xfrm>
            <a:off x="6254496" y="2121408"/>
            <a:ext cx="2834640" cy="2340864"/>
          </a:xfrm>
          <a:prstGeom prst="rect">
            <a:avLst/>
          </a:prstGeom>
          <a:solidFill>
            <a:srgbClr val="111827"/>
          </a:solidFill>
          <a:ln w="9525">
            <a:solidFill>
              <a:srgbClr val="1F2D3D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2" name="Shape 38"/>
          <p:cNvSpPr/>
          <p:nvPr/>
        </p:nvSpPr>
        <p:spPr>
          <a:xfrm>
            <a:off x="6254496" y="2121408"/>
            <a:ext cx="50292" cy="2340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3" name="Text 39"/>
          <p:cNvSpPr/>
          <p:nvPr/>
        </p:nvSpPr>
        <p:spPr>
          <a:xfrm>
            <a:off x="6382512" y="21945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</a:t>
            </a: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74" name="Text 40"/>
          <p:cNvSpPr/>
          <p:nvPr/>
        </p:nvSpPr>
        <p:spPr>
          <a:xfrm>
            <a:off x="6382512" y="2578608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RBI data localisation ready</a:t>
            </a:r>
            <a:endParaRPr lang="en-US" sz="950" dirty="0"/>
          </a:p>
        </p:txBody>
      </p:sp>
      <p:sp>
        <p:nvSpPr>
          <p:cNvPr id="75" name="Text 41"/>
          <p:cNvSpPr/>
          <p:nvPr/>
        </p:nvSpPr>
        <p:spPr>
          <a:xfrm>
            <a:off x="6382512" y="29260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Compliant with DPDP Act 2023</a:t>
            </a:r>
            <a:endParaRPr lang="en-US" sz="950" dirty="0"/>
          </a:p>
        </p:txBody>
      </p:sp>
      <p:sp>
        <p:nvSpPr>
          <p:cNvPr id="76" name="Text 42"/>
          <p:cNvSpPr/>
          <p:nvPr/>
        </p:nvSpPr>
        <p:spPr>
          <a:xfrm>
            <a:off x="6382512" y="32735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 trail for every decision</a:t>
            </a:r>
            <a:endParaRPr lang="en-US" sz="950" dirty="0"/>
          </a:p>
        </p:txBody>
      </p:sp>
      <p:sp>
        <p:nvSpPr>
          <p:cNvPr id="77" name="Text 43"/>
          <p:cNvSpPr/>
          <p:nvPr/>
        </p:nvSpPr>
        <p:spPr>
          <a:xfrm>
            <a:off x="6382512" y="3621024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SOC-2 Type II roadmap</a:t>
            </a:r>
            <a:endParaRPr lang="en-US" sz="950" dirty="0"/>
          </a:p>
        </p:txBody>
      </p:sp>
      <p:sp>
        <p:nvSpPr>
          <p:cNvPr id="78" name="Text 44"/>
          <p:cNvSpPr/>
          <p:nvPr/>
        </p:nvSpPr>
        <p:spPr>
          <a:xfrm>
            <a:off x="6382512" y="39684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RBI Regulatory Sandbox eligible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8761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DIFFERENTIATORS</a:t>
            </a:r>
            <a:endParaRPr lang="en-US" sz="900" dirty="0"/>
          </a:p>
        </p:txBody>
      </p:sp>
      <p:sp>
        <p:nvSpPr>
          <p:cNvPr id="3" name="Text 4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IntelliCredit — vs. Manual Process &amp; Existing Tools</a:t>
            </a:r>
            <a:endParaRPr lang="en-US" sz="2400" dirty="0"/>
          </a:p>
        </p:txBody>
      </p:sp>
      <p:sp>
        <p:nvSpPr>
          <p:cNvPr id="4" name="Shape 5"/>
          <p:cNvSpPr/>
          <p:nvPr/>
        </p:nvSpPr>
        <p:spPr>
          <a:xfrm>
            <a:off x="410568" y="1115568"/>
            <a:ext cx="192024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5" name="Text 6"/>
          <p:cNvSpPr/>
          <p:nvPr/>
        </p:nvSpPr>
        <p:spPr>
          <a:xfrm>
            <a:off x="465432" y="11430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7"/>
          <p:cNvSpPr/>
          <p:nvPr/>
        </p:nvSpPr>
        <p:spPr>
          <a:xfrm>
            <a:off x="2349096" y="1115568"/>
            <a:ext cx="173736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7" name="Text 8"/>
          <p:cNvSpPr/>
          <p:nvPr/>
        </p:nvSpPr>
        <p:spPr>
          <a:xfrm>
            <a:off x="2403960" y="11430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000" dirty="0"/>
          </a:p>
        </p:txBody>
      </p:sp>
      <p:sp>
        <p:nvSpPr>
          <p:cNvPr id="8" name="Shape 9"/>
          <p:cNvSpPr/>
          <p:nvPr/>
        </p:nvSpPr>
        <p:spPr>
          <a:xfrm>
            <a:off x="4086456" y="1115568"/>
            <a:ext cx="1719072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9" name="Text 10"/>
          <p:cNvSpPr/>
          <p:nvPr/>
        </p:nvSpPr>
        <p:spPr>
          <a:xfrm>
            <a:off x="4141320" y="1143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</a:t>
            </a:r>
            <a:endParaRPr lang="en-US" sz="1000" dirty="0"/>
          </a:p>
        </p:txBody>
      </p:sp>
      <p:sp>
        <p:nvSpPr>
          <p:cNvPr id="10" name="Shape 11"/>
          <p:cNvSpPr/>
          <p:nvPr/>
        </p:nvSpPr>
        <p:spPr>
          <a:xfrm>
            <a:off x="5823816" y="1115568"/>
            <a:ext cx="2286000" cy="329184"/>
          </a:xfrm>
          <a:prstGeom prst="rect">
            <a:avLst/>
          </a:prstGeom>
          <a:solidFill>
            <a:srgbClr val="00C896"/>
          </a:solidFill>
          <a:ln w="9525">
            <a:solidFill>
              <a:srgbClr val="00C896"/>
            </a:solidFill>
            <a:prstDash val="solid"/>
          </a:ln>
        </p:spPr>
      </p:sp>
      <p:sp>
        <p:nvSpPr>
          <p:cNvPr id="11" name="Text 12"/>
          <p:cNvSpPr/>
          <p:nvPr/>
        </p:nvSpPr>
        <p:spPr>
          <a:xfrm>
            <a:off x="5878680" y="11430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IntelliCredit ✓</a:t>
            </a:r>
            <a:endParaRPr lang="en-US" sz="1000" dirty="0"/>
          </a:p>
        </p:txBody>
      </p:sp>
      <p:sp>
        <p:nvSpPr>
          <p:cNvPr id="12" name="Shape 13"/>
          <p:cNvSpPr/>
          <p:nvPr/>
        </p:nvSpPr>
        <p:spPr>
          <a:xfrm>
            <a:off x="410568" y="1463040"/>
            <a:ext cx="192024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3" name="Text 14"/>
          <p:cNvSpPr/>
          <p:nvPr/>
        </p:nvSpPr>
        <p:spPr>
          <a:xfrm>
            <a:off x="447144" y="1463040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Time</a:t>
            </a:r>
            <a:endParaRPr lang="en-US" sz="900" dirty="0"/>
          </a:p>
        </p:txBody>
      </p:sp>
      <p:sp>
        <p:nvSpPr>
          <p:cNvPr id="14" name="Shape 15"/>
          <p:cNvSpPr/>
          <p:nvPr/>
        </p:nvSpPr>
        <p:spPr>
          <a:xfrm>
            <a:off x="2349096" y="1463040"/>
            <a:ext cx="17373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5" name="Text 16"/>
          <p:cNvSpPr/>
          <p:nvPr/>
        </p:nvSpPr>
        <p:spPr>
          <a:xfrm>
            <a:off x="2385672" y="1463040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weeks</a:t>
            </a:r>
            <a:endParaRPr lang="en-US" sz="900" dirty="0"/>
          </a:p>
        </p:txBody>
      </p:sp>
      <p:sp>
        <p:nvSpPr>
          <p:cNvPr id="16" name="Shape 17"/>
          <p:cNvSpPr/>
          <p:nvPr/>
        </p:nvSpPr>
        <p:spPr>
          <a:xfrm>
            <a:off x="4086456" y="1463040"/>
            <a:ext cx="171907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7" name="Text 18"/>
          <p:cNvSpPr/>
          <p:nvPr/>
        </p:nvSpPr>
        <p:spPr>
          <a:xfrm>
            <a:off x="412303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900" dirty="0"/>
          </a:p>
        </p:txBody>
      </p:sp>
      <p:sp>
        <p:nvSpPr>
          <p:cNvPr id="18" name="Shape 19"/>
          <p:cNvSpPr/>
          <p:nvPr/>
        </p:nvSpPr>
        <p:spPr>
          <a:xfrm>
            <a:off x="5823816" y="1463040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9" name="Text 20"/>
          <p:cNvSpPr/>
          <p:nvPr/>
        </p:nvSpPr>
        <p:spPr>
          <a:xfrm>
            <a:off x="5860392" y="1463040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minutes</a:t>
            </a:r>
            <a:endParaRPr lang="en-US" sz="900" dirty="0"/>
          </a:p>
        </p:txBody>
      </p:sp>
      <p:sp>
        <p:nvSpPr>
          <p:cNvPr id="20" name="Shape 21"/>
          <p:cNvSpPr/>
          <p:nvPr/>
        </p:nvSpPr>
        <p:spPr>
          <a:xfrm>
            <a:off x="410568" y="1847088"/>
            <a:ext cx="192024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21" name="Text 22"/>
          <p:cNvSpPr/>
          <p:nvPr/>
        </p:nvSpPr>
        <p:spPr>
          <a:xfrm>
            <a:off x="447144" y="1847088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Data</a:t>
            </a:r>
            <a:endParaRPr lang="en-US" sz="900" dirty="0"/>
          </a:p>
        </p:txBody>
      </p:sp>
      <p:sp>
        <p:nvSpPr>
          <p:cNvPr id="22" name="Shape 23"/>
          <p:cNvSpPr/>
          <p:nvPr/>
        </p:nvSpPr>
        <p:spPr>
          <a:xfrm>
            <a:off x="2349096" y="1847088"/>
            <a:ext cx="17373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23" name="Text 24"/>
          <p:cNvSpPr/>
          <p:nvPr/>
        </p:nvSpPr>
        <p:spPr>
          <a:xfrm>
            <a:off x="2385672" y="1847088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Partial</a:t>
            </a:r>
            <a:endParaRPr lang="en-US" sz="900" dirty="0"/>
          </a:p>
        </p:txBody>
      </p:sp>
      <p:sp>
        <p:nvSpPr>
          <p:cNvPr id="24" name="Shape 25"/>
          <p:cNvSpPr/>
          <p:nvPr/>
        </p:nvSpPr>
        <p:spPr>
          <a:xfrm>
            <a:off x="4086456" y="1847088"/>
            <a:ext cx="1719072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25" name="Text 26"/>
          <p:cNvSpPr/>
          <p:nvPr/>
        </p:nvSpPr>
        <p:spPr>
          <a:xfrm>
            <a:off x="4123032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Global only</a:t>
            </a:r>
            <a:endParaRPr lang="en-US" sz="900" dirty="0"/>
          </a:p>
        </p:txBody>
      </p:sp>
      <p:sp>
        <p:nvSpPr>
          <p:cNvPr id="26" name="Shape 27"/>
          <p:cNvSpPr/>
          <p:nvPr/>
        </p:nvSpPr>
        <p:spPr>
          <a:xfrm>
            <a:off x="5823816" y="1847088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7" name="Text 28"/>
          <p:cNvSpPr/>
          <p:nvPr/>
        </p:nvSpPr>
        <p:spPr>
          <a:xfrm>
            <a:off x="5860392" y="1847088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(GST/MCA/DRT)</a:t>
            </a:r>
            <a:endParaRPr lang="en-US" sz="900" dirty="0"/>
          </a:p>
        </p:txBody>
      </p:sp>
      <p:sp>
        <p:nvSpPr>
          <p:cNvPr id="28" name="Shape 29"/>
          <p:cNvSpPr/>
          <p:nvPr/>
        </p:nvSpPr>
        <p:spPr>
          <a:xfrm>
            <a:off x="410568" y="2231136"/>
            <a:ext cx="192024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29" name="Text 30"/>
          <p:cNvSpPr/>
          <p:nvPr/>
        </p:nvSpPr>
        <p:spPr>
          <a:xfrm>
            <a:off x="447144" y="2231136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Reconciliation</a:t>
            </a:r>
            <a:endParaRPr lang="en-US" sz="900" dirty="0"/>
          </a:p>
        </p:txBody>
      </p:sp>
      <p:sp>
        <p:nvSpPr>
          <p:cNvPr id="30" name="Shape 31"/>
          <p:cNvSpPr/>
          <p:nvPr/>
        </p:nvSpPr>
        <p:spPr>
          <a:xfrm>
            <a:off x="2349096" y="2231136"/>
            <a:ext cx="17373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31" name="Text 32"/>
          <p:cNvSpPr/>
          <p:nvPr/>
        </p:nvSpPr>
        <p:spPr>
          <a:xfrm>
            <a:off x="2385672" y="2231136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</a:t>
            </a:r>
            <a:endParaRPr lang="en-US" sz="900" dirty="0"/>
          </a:p>
        </p:txBody>
      </p:sp>
      <p:sp>
        <p:nvSpPr>
          <p:cNvPr id="32" name="Shape 33"/>
          <p:cNvSpPr/>
          <p:nvPr/>
        </p:nvSpPr>
        <p:spPr>
          <a:xfrm>
            <a:off x="4086456" y="2231136"/>
            <a:ext cx="171907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33" name="Text 34"/>
          <p:cNvSpPr/>
          <p:nvPr/>
        </p:nvSpPr>
        <p:spPr>
          <a:xfrm>
            <a:off x="4123032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included</a:t>
            </a:r>
            <a:endParaRPr lang="en-US" sz="900" dirty="0"/>
          </a:p>
        </p:txBody>
      </p:sp>
      <p:sp>
        <p:nvSpPr>
          <p:cNvPr id="34" name="Shape 35"/>
          <p:cNvSpPr/>
          <p:nvPr/>
        </p:nvSpPr>
        <p:spPr>
          <a:xfrm>
            <a:off x="5823816" y="2231136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5" name="Text 36"/>
          <p:cNvSpPr/>
          <p:nvPr/>
        </p:nvSpPr>
        <p:spPr>
          <a:xfrm>
            <a:off x="5860392" y="2231136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Automated + flags</a:t>
            </a:r>
            <a:endParaRPr lang="en-US" sz="900" dirty="0"/>
          </a:p>
        </p:txBody>
      </p:sp>
      <p:sp>
        <p:nvSpPr>
          <p:cNvPr id="36" name="Shape 37"/>
          <p:cNvSpPr/>
          <p:nvPr/>
        </p:nvSpPr>
        <p:spPr>
          <a:xfrm>
            <a:off x="410568" y="2615184"/>
            <a:ext cx="192024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37" name="Text 38"/>
          <p:cNvSpPr/>
          <p:nvPr/>
        </p:nvSpPr>
        <p:spPr>
          <a:xfrm>
            <a:off x="447144" y="2615184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8" name="Shape 39"/>
          <p:cNvSpPr/>
          <p:nvPr/>
        </p:nvSpPr>
        <p:spPr>
          <a:xfrm>
            <a:off x="2349096" y="2615184"/>
            <a:ext cx="17373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39" name="Text 40"/>
          <p:cNvSpPr/>
          <p:nvPr/>
        </p:nvSpPr>
        <p:spPr>
          <a:xfrm>
            <a:off x="2385672" y="2615184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Opaque</a:t>
            </a:r>
            <a:endParaRPr lang="en-US" sz="900" dirty="0"/>
          </a:p>
        </p:txBody>
      </p:sp>
      <p:sp>
        <p:nvSpPr>
          <p:cNvPr id="40" name="Shape 41"/>
          <p:cNvSpPr/>
          <p:nvPr/>
        </p:nvSpPr>
        <p:spPr>
          <a:xfrm>
            <a:off x="4086456" y="2615184"/>
            <a:ext cx="1719072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1" name="Text 42"/>
          <p:cNvSpPr/>
          <p:nvPr/>
        </p:nvSpPr>
        <p:spPr>
          <a:xfrm>
            <a:off x="4123032" y="2615184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Black box</a:t>
            </a:r>
            <a:endParaRPr lang="en-US" sz="900" dirty="0"/>
          </a:p>
        </p:txBody>
      </p:sp>
      <p:sp>
        <p:nvSpPr>
          <p:cNvPr id="42" name="Shape 43"/>
          <p:cNvSpPr/>
          <p:nvPr/>
        </p:nvSpPr>
        <p:spPr>
          <a:xfrm>
            <a:off x="5823816" y="2615184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3" name="Text 44"/>
          <p:cNvSpPr/>
          <p:nvPr/>
        </p:nvSpPr>
        <p:spPr>
          <a:xfrm>
            <a:off x="5860392" y="2615184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SHAP per factor</a:t>
            </a:r>
            <a:endParaRPr lang="en-US" sz="900" dirty="0"/>
          </a:p>
        </p:txBody>
      </p:sp>
      <p:sp>
        <p:nvSpPr>
          <p:cNvPr id="44" name="Shape 45"/>
          <p:cNvSpPr/>
          <p:nvPr/>
        </p:nvSpPr>
        <p:spPr>
          <a:xfrm>
            <a:off x="410568" y="2999232"/>
            <a:ext cx="192024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5" name="Text 46"/>
          <p:cNvSpPr/>
          <p:nvPr/>
        </p:nvSpPr>
        <p:spPr>
          <a:xfrm>
            <a:off x="447144" y="2999232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Output</a:t>
            </a:r>
            <a:endParaRPr lang="en-US" sz="900" dirty="0"/>
          </a:p>
        </p:txBody>
      </p:sp>
      <p:sp>
        <p:nvSpPr>
          <p:cNvPr id="46" name="Shape 47"/>
          <p:cNvSpPr/>
          <p:nvPr/>
        </p:nvSpPr>
        <p:spPr>
          <a:xfrm>
            <a:off x="2349096" y="2999232"/>
            <a:ext cx="17373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7" name="Text 48"/>
          <p:cNvSpPr/>
          <p:nvPr/>
        </p:nvSpPr>
        <p:spPr>
          <a:xfrm>
            <a:off x="2385672" y="2999232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Manual doc</a:t>
            </a:r>
            <a:endParaRPr lang="en-US" sz="900" dirty="0"/>
          </a:p>
        </p:txBody>
      </p:sp>
      <p:sp>
        <p:nvSpPr>
          <p:cNvPr id="48" name="Shape 49"/>
          <p:cNvSpPr/>
          <p:nvPr/>
        </p:nvSpPr>
        <p:spPr>
          <a:xfrm>
            <a:off x="4086456" y="2999232"/>
            <a:ext cx="171907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9" name="Text 50"/>
          <p:cNvSpPr/>
          <p:nvPr/>
        </p:nvSpPr>
        <p:spPr>
          <a:xfrm>
            <a:off x="4123032" y="2999232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900" dirty="0"/>
          </a:p>
        </p:txBody>
      </p:sp>
      <p:sp>
        <p:nvSpPr>
          <p:cNvPr id="50" name="Shape 51"/>
          <p:cNvSpPr/>
          <p:nvPr/>
        </p:nvSpPr>
        <p:spPr>
          <a:xfrm>
            <a:off x="5823816" y="2999232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51" name="Text 52"/>
          <p:cNvSpPr/>
          <p:nvPr/>
        </p:nvSpPr>
        <p:spPr>
          <a:xfrm>
            <a:off x="5860392" y="2999232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AI-generated PDF/DOCX</a:t>
            </a:r>
            <a:endParaRPr lang="en-US" sz="900" dirty="0"/>
          </a:p>
        </p:txBody>
      </p:sp>
      <p:sp>
        <p:nvSpPr>
          <p:cNvPr id="52" name="Shape 53"/>
          <p:cNvSpPr/>
          <p:nvPr/>
        </p:nvSpPr>
        <p:spPr>
          <a:xfrm>
            <a:off x="410568" y="3383280"/>
            <a:ext cx="192024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53" name="Text 54"/>
          <p:cNvSpPr/>
          <p:nvPr/>
        </p:nvSpPr>
        <p:spPr>
          <a:xfrm>
            <a:off x="447144" y="3383280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54" name="Shape 55"/>
          <p:cNvSpPr/>
          <p:nvPr/>
        </p:nvSpPr>
        <p:spPr>
          <a:xfrm>
            <a:off x="2349096" y="3383280"/>
            <a:ext cx="17373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55" name="Text 56"/>
          <p:cNvSpPr/>
          <p:nvPr/>
        </p:nvSpPr>
        <p:spPr>
          <a:xfrm>
            <a:off x="2385672" y="3383280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</a:t>
            </a:r>
            <a:endParaRPr lang="en-US" sz="900" dirty="0"/>
          </a:p>
        </p:txBody>
      </p:sp>
      <p:sp>
        <p:nvSpPr>
          <p:cNvPr id="56" name="Shape 57"/>
          <p:cNvSpPr/>
          <p:nvPr/>
        </p:nvSpPr>
        <p:spPr>
          <a:xfrm>
            <a:off x="4086456" y="3383280"/>
            <a:ext cx="1719072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57" name="Text 58"/>
          <p:cNvSpPr/>
          <p:nvPr/>
        </p:nvSpPr>
        <p:spPr>
          <a:xfrm>
            <a:off x="4123032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portal</a:t>
            </a:r>
            <a:endParaRPr lang="en-US" sz="900" dirty="0"/>
          </a:p>
        </p:txBody>
      </p:sp>
      <p:sp>
        <p:nvSpPr>
          <p:cNvPr id="58" name="Shape 59"/>
          <p:cNvSpPr/>
          <p:nvPr/>
        </p:nvSpPr>
        <p:spPr>
          <a:xfrm>
            <a:off x="5823816" y="3383280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59" name="Text 60"/>
          <p:cNvSpPr/>
          <p:nvPr/>
        </p:nvSpPr>
        <p:spPr>
          <a:xfrm>
            <a:off x="5860392" y="3383280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Qualitative portal</a:t>
            </a:r>
            <a:endParaRPr lang="en-US" sz="900" dirty="0"/>
          </a:p>
        </p:txBody>
      </p:sp>
      <p:sp>
        <p:nvSpPr>
          <p:cNvPr id="60" name="Shape 61"/>
          <p:cNvSpPr/>
          <p:nvPr/>
        </p:nvSpPr>
        <p:spPr>
          <a:xfrm>
            <a:off x="410568" y="3767328"/>
            <a:ext cx="192024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61" name="Text 62"/>
          <p:cNvSpPr/>
          <p:nvPr/>
        </p:nvSpPr>
        <p:spPr>
          <a:xfrm>
            <a:off x="447144" y="3767328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</a:t>
            </a:r>
            <a:endParaRPr lang="en-US" sz="900" dirty="0"/>
          </a:p>
        </p:txBody>
      </p:sp>
      <p:sp>
        <p:nvSpPr>
          <p:cNvPr id="62" name="Shape 63"/>
          <p:cNvSpPr/>
          <p:nvPr/>
        </p:nvSpPr>
        <p:spPr>
          <a:xfrm>
            <a:off x="2349096" y="3767328"/>
            <a:ext cx="17373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63" name="Text 64"/>
          <p:cNvSpPr/>
          <p:nvPr/>
        </p:nvSpPr>
        <p:spPr>
          <a:xfrm>
            <a:off x="2385672" y="3767328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Ad hoc</a:t>
            </a:r>
            <a:endParaRPr lang="en-US" sz="900" dirty="0"/>
          </a:p>
        </p:txBody>
      </p:sp>
      <p:sp>
        <p:nvSpPr>
          <p:cNvPr id="64" name="Shape 65"/>
          <p:cNvSpPr/>
          <p:nvPr/>
        </p:nvSpPr>
        <p:spPr>
          <a:xfrm>
            <a:off x="4086456" y="3767328"/>
            <a:ext cx="171907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65" name="Text 66"/>
          <p:cNvSpPr/>
          <p:nvPr/>
        </p:nvSpPr>
        <p:spPr>
          <a:xfrm>
            <a:off x="4123032" y="3767328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66" name="Shape 67"/>
          <p:cNvSpPr/>
          <p:nvPr/>
        </p:nvSpPr>
        <p:spPr>
          <a:xfrm>
            <a:off x="5823816" y="3767328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67" name="Text 68"/>
          <p:cNvSpPr/>
          <p:nvPr/>
        </p:nvSpPr>
        <p:spPr>
          <a:xfrm>
            <a:off x="5860392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7-source autonomous</a:t>
            </a:r>
            <a:endParaRPr lang="en-US" sz="900" dirty="0"/>
          </a:p>
        </p:txBody>
      </p:sp>
      <p:sp>
        <p:nvSpPr>
          <p:cNvPr id="68" name="Shape 69"/>
          <p:cNvSpPr/>
          <p:nvPr/>
        </p:nvSpPr>
        <p:spPr>
          <a:xfrm>
            <a:off x="410568" y="4151376"/>
            <a:ext cx="192024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69" name="Text 70"/>
          <p:cNvSpPr/>
          <p:nvPr/>
        </p:nvSpPr>
        <p:spPr>
          <a:xfrm>
            <a:off x="447144" y="4151376"/>
            <a:ext cx="1847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900" dirty="0"/>
          </a:p>
        </p:txBody>
      </p:sp>
      <p:sp>
        <p:nvSpPr>
          <p:cNvPr id="70" name="Shape 71"/>
          <p:cNvSpPr/>
          <p:nvPr/>
        </p:nvSpPr>
        <p:spPr>
          <a:xfrm>
            <a:off x="2349096" y="4151376"/>
            <a:ext cx="17373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71" name="Text 72"/>
          <p:cNvSpPr/>
          <p:nvPr/>
        </p:nvSpPr>
        <p:spPr>
          <a:xfrm>
            <a:off x="2385672" y="4151376"/>
            <a:ext cx="16642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Banker</a:t>
            </a:r>
            <a:endParaRPr lang="en-US" sz="900" dirty="0"/>
          </a:p>
        </p:txBody>
      </p:sp>
      <p:sp>
        <p:nvSpPr>
          <p:cNvPr id="72" name="Shape 73"/>
          <p:cNvSpPr/>
          <p:nvPr/>
        </p:nvSpPr>
        <p:spPr>
          <a:xfrm>
            <a:off x="4086456" y="4151376"/>
            <a:ext cx="1719072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73" name="Text 74"/>
          <p:cNvSpPr/>
          <p:nvPr/>
        </p:nvSpPr>
        <p:spPr>
          <a:xfrm>
            <a:off x="4123032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Unknown</a:t>
            </a:r>
            <a:endParaRPr lang="en-US" sz="900" dirty="0"/>
          </a:p>
        </p:txBody>
      </p:sp>
      <p:sp>
        <p:nvSpPr>
          <p:cNvPr id="74" name="Shape 75"/>
          <p:cNvSpPr/>
          <p:nvPr/>
        </p:nvSpPr>
        <p:spPr>
          <a:xfrm>
            <a:off x="5823816" y="4151376"/>
            <a:ext cx="2286000" cy="365760"/>
          </a:xfrm>
          <a:prstGeom prst="rect">
            <a:avLst/>
          </a:prstGeom>
          <a:solidFill>
            <a:srgbClr val="00C896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75" name="Text 76"/>
          <p:cNvSpPr/>
          <p:nvPr/>
        </p:nvSpPr>
        <p:spPr>
          <a:xfrm>
            <a:off x="5860392" y="4151376"/>
            <a:ext cx="22128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RBI-aligned design</a:t>
            </a:r>
            <a:endParaRPr lang="en-US" sz="900" dirty="0"/>
          </a:p>
        </p:txBody>
      </p:sp>
      <p:sp>
        <p:nvSpPr>
          <p:cNvPr id="76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89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TEAM &amp;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 Behind IntelliCredit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39" y="1207008"/>
            <a:ext cx="3781881" cy="166420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45720" cy="16642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98448"/>
            <a:ext cx="1255690" cy="1499616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316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45552" y="1304887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Team Member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45551" y="1542630"/>
            <a:ext cx="2053337" cy="1237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00D4AA"/>
                </a:solidFill>
              </a:rPr>
              <a:t>Parshav</a:t>
            </a:r>
            <a:r>
              <a:rPr lang="en-US" sz="1000" dirty="0" smtClean="0">
                <a:solidFill>
                  <a:srgbClr val="00D4AA"/>
                </a:solidFill>
              </a:rPr>
              <a:t> Shah</a:t>
            </a:r>
          </a:p>
          <a:p>
            <a:pPr marL="0" indent="0">
              <a:buNone/>
            </a:pPr>
            <a:endParaRPr lang="en-US" sz="1000" dirty="0">
              <a:solidFill>
                <a:srgbClr val="00D4AA"/>
              </a:solidFill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00D4AA"/>
                </a:solidFill>
              </a:rPr>
              <a:t>B.Tech</a:t>
            </a:r>
            <a:r>
              <a:rPr lang="en-US" sz="1000" dirty="0" smtClean="0">
                <a:solidFill>
                  <a:srgbClr val="00D4AA"/>
                </a:solidFill>
              </a:rPr>
              <a:t>  Sem-6</a:t>
            </a:r>
          </a:p>
          <a:p>
            <a:pPr marL="0" indent="0">
              <a:buNone/>
            </a:pPr>
            <a:endParaRPr lang="en-US" sz="1000" dirty="0">
              <a:solidFill>
                <a:srgbClr val="00D4AA"/>
              </a:solidFill>
            </a:endParaRPr>
          </a:p>
          <a:p>
            <a:pPr marL="0" indent="0">
              <a:buNone/>
            </a:pPr>
            <a:r>
              <a:rPr lang="en-US" sz="1000" dirty="0" smtClean="0">
                <a:solidFill>
                  <a:srgbClr val="00D4AA"/>
                </a:solidFill>
              </a:rPr>
              <a:t>GLS University, Ahmedabad, Gujarat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0782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</a:rPr>
              <a:t>Roadmap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5062" y="1481328"/>
            <a:ext cx="4069080" cy="694944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25062" y="1481328"/>
            <a:ext cx="45720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43934" y="1609344"/>
            <a:ext cx="320040" cy="32004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9694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AA"/>
                </a:solidFill>
              </a:rPr>
              <a:t>Phase 1  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09694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Hackathon MVP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9694" y="1975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3-pillar prototype, React UI, mock data demo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25062" y="2286000"/>
            <a:ext cx="4069080" cy="694944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25062" y="2286000"/>
            <a:ext cx="45720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43934" y="2414016"/>
            <a:ext cx="320040" cy="32004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9694" y="2359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Phase 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09694" y="2560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Banking Integration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09694" y="2779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Live CBS APIs, real GST portal, Finbox/CKYC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25062" y="3090672"/>
            <a:ext cx="4069080" cy="694944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25062" y="3090672"/>
            <a:ext cx="4572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43934" y="3218688"/>
            <a:ext cx="320040" cy="32004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9694" y="3163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Phase 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09694" y="3364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Pilot Deployment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09694" y="3584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NBFC / regional bank pilot — 50 live cases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25062" y="3895344"/>
            <a:ext cx="4069080" cy="694944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25062" y="3895344"/>
            <a:ext cx="45720" cy="69494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43934" y="4023360"/>
            <a:ext cx="320040" cy="320040"/>
          </a:xfrm>
          <a:prstGeom prst="ellipse">
            <a:avLst/>
          </a:prstGeom>
          <a:solidFill>
            <a:srgbClr val="6B7A99">
              <a:alpha val="25000"/>
            </a:srgbClr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9694" y="3968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A99"/>
                </a:solidFill>
              </a:rPr>
              <a:t>Phase 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09694" y="4169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Scale &amp; Compliance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309694" y="4389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</a:rPr>
              <a:t>RBI sandbox, SOC-2 audit, multi-bank rollout</a:t>
            </a:r>
            <a:endParaRPr lang="en-US" sz="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52" t="64082" r="40177" b="5306"/>
          <a:stretch/>
        </p:blipFill>
        <p:spPr bwMode="auto">
          <a:xfrm>
            <a:off x="441101" y="1312872"/>
            <a:ext cx="1271789" cy="1513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" name="Shape 5"/>
          <p:cNvSpPr/>
          <p:nvPr/>
        </p:nvSpPr>
        <p:spPr>
          <a:xfrm>
            <a:off x="320040" y="3191256"/>
            <a:ext cx="3781881" cy="1664208"/>
          </a:xfrm>
          <a:prstGeom prst="rect">
            <a:avLst/>
          </a:prstGeom>
          <a:solidFill>
            <a:srgbClr val="151A25"/>
          </a:solidFill>
          <a:ln w="9525">
            <a:solidFill>
              <a:srgbClr val="1E2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Shape 6"/>
          <p:cNvSpPr/>
          <p:nvPr/>
        </p:nvSpPr>
        <p:spPr>
          <a:xfrm>
            <a:off x="315961" y="3191256"/>
            <a:ext cx="45720" cy="16642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3" name="Text 10"/>
          <p:cNvSpPr/>
          <p:nvPr/>
        </p:nvSpPr>
        <p:spPr>
          <a:xfrm>
            <a:off x="441100" y="3286022"/>
            <a:ext cx="3557789" cy="1517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00D4AA"/>
                </a:solidFill>
              </a:rPr>
              <a:t>GITHUB:</a:t>
            </a:r>
          </a:p>
          <a:p>
            <a:r>
              <a:rPr lang="en-US" sz="1000" dirty="0">
                <a:hlinkClick r:id="rId4"/>
              </a:rPr>
              <a:t>https://</a:t>
            </a:r>
            <a:r>
              <a:rPr lang="en-US" sz="1000" dirty="0" smtClean="0">
                <a:hlinkClick r:id="rId4"/>
              </a:rPr>
              <a:t>github.com/Parshav2304/IntelliCredit</a:t>
            </a:r>
            <a:endParaRPr lang="en-US" sz="1000" dirty="0" smtClean="0"/>
          </a:p>
          <a:p>
            <a:endParaRPr lang="en-US" sz="1000" dirty="0"/>
          </a:p>
          <a:p>
            <a:r>
              <a:rPr lang="en-US" sz="1000" dirty="0" smtClean="0">
                <a:solidFill>
                  <a:srgbClr val="00D4AA"/>
                </a:solidFill>
              </a:rPr>
              <a:t>LinkedIn:</a:t>
            </a:r>
          </a:p>
          <a:p>
            <a:r>
              <a:rPr lang="en-US" sz="1000" dirty="0">
                <a:solidFill>
                  <a:srgbClr val="00D4AA"/>
                </a:solidFill>
                <a:hlinkClick r:id="rId5"/>
              </a:rPr>
              <a:t>https://www.linkedin.com/in/parshav-shah-485739284/</a:t>
            </a:r>
            <a:endParaRPr lang="en-US" sz="1000" dirty="0">
              <a:solidFill>
                <a:srgbClr val="00D4AA"/>
              </a:solidFill>
            </a:endParaRPr>
          </a:p>
          <a:p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/>
          <p:cNvSpPr/>
          <p:nvPr/>
        </p:nvSpPr>
        <p:spPr>
          <a:xfrm>
            <a:off x="848138" y="36575"/>
            <a:ext cx="6924261" cy="5047489"/>
          </a:xfrm>
          <a:prstGeom prst="ellipse">
            <a:avLst/>
          </a:prstGeom>
          <a:solidFill>
            <a:schemeClr val="tx1">
              <a:alpha val="36000"/>
            </a:scheme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5620" y="118225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</a:t>
            </a:r>
            <a:r>
              <a:rPr lang="en-US" sz="6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85620" y="221552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</a:rPr>
              <a:t>Bridging India's Credit Intelligence Gap — with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115" y="2028907"/>
            <a:ext cx="7315200" cy="2016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6B7A99"/>
                </a:solidFill>
              </a:rPr>
              <a:t>Thank </a:t>
            </a:r>
            <a:r>
              <a:rPr lang="en-US" sz="6600" b="1" dirty="0" smtClean="0">
                <a:solidFill>
                  <a:srgbClr val="6B7A99"/>
                </a:solidFill>
              </a:rPr>
              <a:t>You</a:t>
            </a:r>
            <a:endParaRPr lang="en-US"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1355</Words>
  <Application>Microsoft Office PowerPoint</Application>
  <PresentationFormat>On-screen Show (16:9)</PresentationFormat>
  <Paragraphs>294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IntelliCredit — AI Credit Appraisal Engine</dc:title>
  <dc:subject>PptxGenJS Presentation</dc:subject>
  <dc:creator>PptxGenJS</dc:creator>
  <cp:lastModifiedBy>dell</cp:lastModifiedBy>
  <cp:revision>14</cp:revision>
  <dcterms:created xsi:type="dcterms:W3CDTF">2026-03-03T18:16:11Z</dcterms:created>
  <dcterms:modified xsi:type="dcterms:W3CDTF">2026-03-04T10:04:18Z</dcterms:modified>
</cp:coreProperties>
</file>