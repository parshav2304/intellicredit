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8" r:id="rId10"/>
    <p:sldId id="264" r:id="rId11"/>
    <p:sldId id="269" r:id="rId12"/>
    <p:sldId id="267" r:id="rId13"/>
    <p:sldId id="265" r:id="rId14"/>
    <p:sldId id="266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8" d="100"/>
          <a:sy n="118" d="100"/>
        </p:scale>
        <p:origin x="-418" y="-6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83D028-F645-4919-81C4-7F054D057BA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D45850-3ABD-4372-B9E1-EBABE24B69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8003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8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3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2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linkedin.com/in/parshav-shah-485739284/" TargetMode="External"/><Relationship Id="rId4" Type="http://schemas.openxmlformats.org/officeDocument/2006/relationships/hyperlink" Target="https://github.com/Parshav2304/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8138" y="36575"/>
            <a:ext cx="6924261" cy="5047489"/>
          </a:xfrm>
          <a:prstGeom prst="ellipse">
            <a:avLst/>
          </a:prstGeom>
          <a:solidFill>
            <a:schemeClr val="tx1">
              <a:alpha val="36000"/>
            </a:schemeClr>
          </a:solidFill>
          <a:ln w="6350">
            <a:solidFill>
              <a:srgbClr val="00D4AA">
                <a:alpha val="2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62539" y="1449622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E8ED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Intelli</a:t>
            </a:r>
            <a:r>
              <a:rPr lang="en-US" sz="6400" b="1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Credit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1762539" y="2501182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Corporate Credit Appraisal Engine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762539" y="3004102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E8EDF5"/>
                </a:solidFill>
              </a:rPr>
              <a:t>From weeks to minutes. From guesswork to explainable AI.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762539" y="3552742"/>
            <a:ext cx="1417320" cy="329184"/>
          </a:xfrm>
          <a:prstGeom prst="rect">
            <a:avLst/>
          </a:prstGeom>
          <a:solidFill>
            <a:srgbClr val="3B82F6">
              <a:alpha val="18000"/>
            </a:srgbClr>
          </a:solidFill>
          <a:ln w="9525">
            <a:solidFill>
              <a:srgbClr val="3B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62539" y="355274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B82F6"/>
                </a:solidFill>
              </a:rPr>
              <a:t>1. Data Ingestor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362739" y="3552742"/>
            <a:ext cx="1417320" cy="329184"/>
          </a:xfrm>
          <a:prstGeom prst="rect">
            <a:avLst/>
          </a:prstGeom>
          <a:solidFill>
            <a:srgbClr val="00D4AA">
              <a:alpha val="18000"/>
            </a:srgbClr>
          </a:solidFill>
          <a:ln w="9525">
            <a:solidFill>
              <a:srgbClr val="00D4A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62739" y="355274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AA"/>
                </a:solidFill>
              </a:rPr>
              <a:t>2. Research Agent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962939" y="3552742"/>
            <a:ext cx="1417320" cy="329184"/>
          </a:xfrm>
          <a:prstGeom prst="rect">
            <a:avLst/>
          </a:prstGeom>
          <a:solidFill>
            <a:srgbClr val="F59E0B">
              <a:alpha val="18000"/>
            </a:srgbClr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2939" y="355274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59E0B"/>
                </a:solidFill>
              </a:rPr>
              <a:t>3. CAM Engine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5776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D4AA"/>
                </a:solidFill>
              </a:rPr>
              <a:t>THE PROBLEM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5037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8ED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India's Corporate Credit — The Data Paradox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82958" y="2090191"/>
            <a:ext cx="3840480" cy="1900045"/>
          </a:xfrm>
          <a:prstGeom prst="rect">
            <a:avLst/>
          </a:prstGeom>
          <a:solidFill>
            <a:srgbClr val="EF4444">
              <a:alpha val="12000"/>
            </a:srgbClr>
          </a:solidFill>
          <a:ln w="9525">
            <a:solidFill>
              <a:srgbClr val="EF44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491136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200" b="1" dirty="0">
                <a:solidFill>
                  <a:srgbClr val="EF44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3–6</a:t>
            </a:r>
            <a:endParaRPr lang="en-US" sz="6200" dirty="0"/>
          </a:p>
        </p:txBody>
      </p:sp>
      <p:sp>
        <p:nvSpPr>
          <p:cNvPr id="9" name="Text 7"/>
          <p:cNvSpPr/>
          <p:nvPr/>
        </p:nvSpPr>
        <p:spPr>
          <a:xfrm>
            <a:off x="457200" y="331866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DF5"/>
                </a:solidFill>
              </a:rPr>
              <a:t>WEEKS to process one loan application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549304"/>
            <a:ext cx="2057400" cy="1261872"/>
          </a:xfrm>
          <a:prstGeom prst="rect">
            <a:avLst/>
          </a:prstGeom>
          <a:solidFill>
            <a:srgbClr val="151A25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549304"/>
            <a:ext cx="45720" cy="126187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73168" y="16407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773168" y="202479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DF5"/>
                </a:solidFill>
              </a:rPr>
              <a:t>Fragmented Data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73168" y="2262536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99"/>
                </a:solidFill>
              </a:rPr>
              <a:t>GST filings, ITRs, bank statements, PDFs — all siloed and unlinked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858000" y="1549304"/>
            <a:ext cx="2057400" cy="1261872"/>
          </a:xfrm>
          <a:prstGeom prst="rect">
            <a:avLst/>
          </a:prstGeom>
          <a:solidFill>
            <a:srgbClr val="151A25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858000" y="1549304"/>
            <a:ext cx="45720" cy="126187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67728" y="202479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DF5"/>
                </a:solidFill>
              </a:rPr>
              <a:t>Missed Early Warnings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967728" y="2262536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99"/>
                </a:solidFill>
              </a:rPr>
              <a:t>Buried signals in 200-page annual reports go unnoticed until default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63440" y="2966624"/>
            <a:ext cx="2057400" cy="1261872"/>
          </a:xfrm>
          <a:prstGeom prst="rect">
            <a:avLst/>
          </a:prstGeom>
          <a:solidFill>
            <a:srgbClr val="151A25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2966624"/>
            <a:ext cx="45720" cy="126187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73168" y="3058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4773168" y="344211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DF5"/>
                </a:solidFill>
              </a:rPr>
              <a:t>Human Bias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773168" y="3679856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99"/>
                </a:solidFill>
              </a:rPr>
              <a:t>Subjective analyst judgement with no audit trail or explainability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58000" y="2966624"/>
            <a:ext cx="2057400" cy="1261872"/>
          </a:xfrm>
          <a:prstGeom prst="rect">
            <a:avLst/>
          </a:prstGeom>
          <a:solidFill>
            <a:srgbClr val="151A25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858000" y="2966624"/>
            <a:ext cx="45720" cy="126187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67728" y="3058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6967728" y="344211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DF5"/>
                </a:solidFill>
              </a:rPr>
              <a:t>No External Intelligence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967728" y="3679856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99"/>
                </a:solidFill>
              </a:rPr>
              <a:t>Litigation, MCA flags &amp; sector news manually googled — or skipped</a:t>
            </a:r>
            <a:endParaRPr lang="en-US" sz="1000" dirty="0"/>
          </a:p>
        </p:txBody>
      </p:sp>
      <p:pic>
        <p:nvPicPr>
          <p:cNvPr id="2050" name="Picture 2" descr="Writing 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7448" y="1647600"/>
            <a:ext cx="365760" cy="365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Search 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7728" y="1647600"/>
            <a:ext cx="365760" cy="365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Brainstorm 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3168" y="3089705"/>
            <a:ext cx="365760" cy="365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Browser 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05394" y="3089705"/>
            <a:ext cx="365760" cy="365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64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D4AA"/>
                </a:solidFill>
              </a:rPr>
              <a:t>OUR SOLUTION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ED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IntelliCredit — End-to-End AI Credit Decisioning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256032" y="1234440"/>
            <a:ext cx="2651760" cy="3200400"/>
          </a:xfrm>
          <a:prstGeom prst="rect">
            <a:avLst/>
          </a:prstGeom>
          <a:solidFill>
            <a:srgbClr val="151A25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56032" y="1234440"/>
            <a:ext cx="45720" cy="32004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3192" y="1353312"/>
            <a:ext cx="457200" cy="457200"/>
          </a:xfrm>
          <a:prstGeom prst="ellipse">
            <a:avLst/>
          </a:prstGeom>
          <a:solidFill>
            <a:srgbClr val="3B82F6">
              <a:alpha val="25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3192" y="1353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B82F6"/>
                </a:solidFill>
              </a:rPr>
              <a:t>01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1883664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D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 Ingestor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5760" y="221284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B82F6"/>
                </a:solidFill>
              </a:rPr>
              <a:t>Multi-Format Parsing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93192" y="257860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99"/>
                </a:solidFill>
              </a:rPr>
              <a:t>›  PDF / XLSX / scanned OCR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93192" y="301752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99"/>
                </a:solidFill>
              </a:rPr>
              <a:t>›  GST ↔ Bank reconciliation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93192" y="345643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99"/>
                </a:solidFill>
              </a:rPr>
              <a:t>›  Circular trading detection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136392" y="1234440"/>
            <a:ext cx="2651760" cy="3200400"/>
          </a:xfrm>
          <a:prstGeom prst="rect">
            <a:avLst/>
          </a:prstGeom>
          <a:solidFill>
            <a:srgbClr val="151A25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136392" y="1234440"/>
            <a:ext cx="45720" cy="32004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73552" y="1353312"/>
            <a:ext cx="457200" cy="457200"/>
          </a:xfrm>
          <a:prstGeom prst="ellipse">
            <a:avLst/>
          </a:prstGeom>
          <a:solidFill>
            <a:srgbClr val="00D4AA">
              <a:alpha val="25000"/>
            </a:srgbClr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73552" y="1353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D4AA"/>
                </a:solidFill>
              </a:rPr>
              <a:t>02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246120" y="1883664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D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Research Agent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246120" y="221284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D4AA"/>
                </a:solidFill>
              </a:rPr>
              <a:t>Digital Credit Manager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273552" y="257860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99"/>
                </a:solidFill>
              </a:rPr>
              <a:t>›  Web crawl: promoters, sector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273552" y="301752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99"/>
                </a:solidFill>
              </a:rPr>
              <a:t>›  eCourts + MCA + SFIO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273552" y="345643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99"/>
                </a:solidFill>
              </a:rPr>
              <a:t>›  Qualitative notes portal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016752" y="1234440"/>
            <a:ext cx="2651760" cy="3200400"/>
          </a:xfrm>
          <a:prstGeom prst="rect">
            <a:avLst/>
          </a:prstGeom>
          <a:solidFill>
            <a:srgbClr val="151A25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016752" y="1234440"/>
            <a:ext cx="45720" cy="32004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53912" y="1353312"/>
            <a:ext cx="457200" cy="457200"/>
          </a:xfrm>
          <a:prstGeom prst="ellipse">
            <a:avLst/>
          </a:prstGeom>
          <a:solidFill>
            <a:srgbClr val="F59E0B">
              <a:alpha val="2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53912" y="1353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</a:rPr>
              <a:t>03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675120" y="1344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126480" y="1883664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D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CAM Engine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126480" y="221284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9E0B"/>
                </a:solidFill>
              </a:rPr>
              <a:t>Recommendation &amp; Report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153912" y="257860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99"/>
                </a:solidFill>
              </a:rPr>
              <a:t>›  Five Cs scoring model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153912" y="301752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99"/>
                </a:solidFill>
              </a:rPr>
              <a:t>›  SHAP explainability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153912" y="345643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99"/>
                </a:solidFill>
              </a:rPr>
              <a:t>›  PDF / DOCX CAM output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2862072" y="26746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D4AA"/>
                </a:solidFill>
              </a:rPr>
              <a:t>→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5760720" y="2697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D4AA"/>
                </a:solidFill>
              </a:rPr>
              <a:t>→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256032" y="4572000"/>
            <a:ext cx="8412480" cy="384048"/>
          </a:xfrm>
          <a:prstGeom prst="rect">
            <a:avLst/>
          </a:prstGeom>
          <a:solidFill>
            <a:srgbClr val="000000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256032" y="4572000"/>
            <a:ext cx="45720" cy="384048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47472" y="460857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D4AA"/>
                </a:solidFill>
              </a:rPr>
              <a:t>OUTPUT:  Comprehensive Credit Appraisal Memo (CAM)  •  Loan Amount  •  Risk-Adjusted Interest Rate  •  Explainable Decision Logic</a:t>
            </a:r>
            <a:endParaRPr lang="en-US" sz="950" dirty="0"/>
          </a:p>
        </p:txBody>
      </p:sp>
      <p:pic>
        <p:nvPicPr>
          <p:cNvPr id="3074" name="Picture 2" descr="Download to storage drive 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521" y="1389888"/>
            <a:ext cx="365760" cy="365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5" name="Picture 4" descr="Search 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39518" y="1399032"/>
            <a:ext cx="365760" cy="365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Documents 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1967" y="1399032"/>
            <a:ext cx="365760" cy="365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64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3B82F6"/>
                </a:solidFill>
              </a:rPr>
              <a:t>PILLAR 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ED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 Ingestor — Multi-Format Intelligence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1143000"/>
            <a:ext cx="3931920" cy="621792"/>
          </a:xfrm>
          <a:prstGeom prst="rect">
            <a:avLst/>
          </a:prstGeom>
          <a:solidFill>
            <a:srgbClr val="151A25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143000"/>
            <a:ext cx="45720" cy="6217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188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05840" y="11887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DF5"/>
                </a:solidFill>
              </a:rPr>
              <a:t>Annual Reports (PDF)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05840" y="142646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99"/>
                </a:solidFill>
              </a:rPr>
              <a:t>Key commitments, risk factors, MD&amp;A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65760" y="1856232"/>
            <a:ext cx="3931920" cy="621792"/>
          </a:xfrm>
          <a:prstGeom prst="rect">
            <a:avLst/>
          </a:prstGeom>
          <a:solidFill>
            <a:srgbClr val="151A25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1856232"/>
            <a:ext cx="45720" cy="6217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9019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05840" y="19019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DF5"/>
                </a:solidFill>
              </a:rPr>
              <a:t>GST Returns (3B vs 2A)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05840" y="213969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99"/>
                </a:solidFill>
              </a:rPr>
              <a:t>Circular trading &amp; inflation detection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65760" y="2569464"/>
            <a:ext cx="3931920" cy="621792"/>
          </a:xfrm>
          <a:prstGeom prst="rect">
            <a:avLst/>
          </a:prstGeom>
          <a:solidFill>
            <a:srgbClr val="151A25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65760" y="2569464"/>
            <a:ext cx="45720" cy="6217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61518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05840" y="261518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DF5"/>
                </a:solidFill>
              </a:rPr>
              <a:t>Bank Statements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05840" y="285292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99"/>
                </a:solidFill>
              </a:rPr>
              <a:t>Cash flow patterns &amp; anomaly flags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82696"/>
            <a:ext cx="3931920" cy="621792"/>
          </a:xfrm>
          <a:prstGeom prst="rect">
            <a:avLst/>
          </a:prstGeom>
          <a:solidFill>
            <a:srgbClr val="151A25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65760" y="3282696"/>
            <a:ext cx="45720" cy="6217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332841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05840" y="33284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DF5"/>
                </a:solidFill>
              </a:rPr>
              <a:t>Legal / DRT Notices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05840" y="356616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99"/>
                </a:solidFill>
              </a:rPr>
              <a:t>Recovery suits, wilful default flags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65760" y="3995928"/>
            <a:ext cx="3931920" cy="621792"/>
          </a:xfrm>
          <a:prstGeom prst="rect">
            <a:avLst/>
          </a:prstGeom>
          <a:solidFill>
            <a:srgbClr val="151A25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65760" y="3995928"/>
            <a:ext cx="45720" cy="6217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" y="40416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005840" y="40416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DF5"/>
                </a:solidFill>
              </a:rPr>
              <a:t>MCA Filings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05840" y="427939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99"/>
                </a:solidFill>
              </a:rPr>
              <a:t>Director history, charge records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663440" y="1143000"/>
            <a:ext cx="4069080" cy="3566160"/>
          </a:xfrm>
          <a:prstGeom prst="rect">
            <a:avLst/>
          </a:prstGeom>
          <a:solidFill>
            <a:srgbClr val="151A25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4754880" y="123444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GST Reconciliation Engine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754880" y="1499616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99"/>
                </a:solidFill>
              </a:rPr>
              <a:t>GSTR-3B  vs  GSTR-2A  vs  Bank Credits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877608" y="1847088"/>
            <a:ext cx="685800" cy="329184"/>
          </a:xfrm>
          <a:prstGeom prst="rect">
            <a:avLst/>
          </a:prstGeom>
          <a:solidFill>
            <a:srgbClr val="10141C"/>
          </a:solidFill>
          <a:ln w="6350">
            <a:solidFill>
              <a:srgbClr val="1E253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14184" y="1865376"/>
            <a:ext cx="612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6B7A99"/>
                </a:solidFill>
              </a:rPr>
              <a:t>Month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563408" y="1847088"/>
            <a:ext cx="658368" cy="329184"/>
          </a:xfrm>
          <a:prstGeom prst="rect">
            <a:avLst/>
          </a:prstGeom>
          <a:solidFill>
            <a:srgbClr val="10141C"/>
          </a:solidFill>
          <a:ln w="6350">
            <a:solidFill>
              <a:srgbClr val="1E253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99984" y="1865376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6B7A99"/>
                </a:solidFill>
              </a:rPr>
              <a:t>3B (₹L)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221776" y="1847088"/>
            <a:ext cx="658368" cy="329184"/>
          </a:xfrm>
          <a:prstGeom prst="rect">
            <a:avLst/>
          </a:prstGeom>
          <a:solidFill>
            <a:srgbClr val="10141C"/>
          </a:solidFill>
          <a:ln w="6350">
            <a:solidFill>
              <a:srgbClr val="1E253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258352" y="1865376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6B7A99"/>
                </a:solidFill>
              </a:rPr>
              <a:t>2A (₹L)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880144" y="1847088"/>
            <a:ext cx="658368" cy="329184"/>
          </a:xfrm>
          <a:prstGeom prst="rect">
            <a:avLst/>
          </a:prstGeom>
          <a:solidFill>
            <a:srgbClr val="10141C"/>
          </a:solidFill>
          <a:ln w="6350">
            <a:solidFill>
              <a:srgbClr val="1E253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16720" y="1865376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6B7A99"/>
                </a:solidFill>
              </a:rPr>
              <a:t>Bank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7538512" y="1847088"/>
            <a:ext cx="822960" cy="329184"/>
          </a:xfrm>
          <a:prstGeom prst="rect">
            <a:avLst/>
          </a:prstGeom>
          <a:solidFill>
            <a:srgbClr val="10141C"/>
          </a:solidFill>
          <a:ln w="6350">
            <a:solidFill>
              <a:srgbClr val="1E253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575088" y="186537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6B7A99"/>
                </a:solidFill>
              </a:rPr>
              <a:t>Flag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4877608" y="2194560"/>
            <a:ext cx="685800" cy="329184"/>
          </a:xfrm>
          <a:prstGeom prst="rect">
            <a:avLst/>
          </a:prstGeom>
          <a:solidFill>
            <a:srgbClr val="151A25"/>
          </a:solidFill>
          <a:ln w="6350">
            <a:solidFill>
              <a:srgbClr val="1E253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914184" y="2212848"/>
            <a:ext cx="612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8EDF5"/>
                </a:solidFill>
              </a:rPr>
              <a:t>Jan 24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563408" y="2194560"/>
            <a:ext cx="658368" cy="329184"/>
          </a:xfrm>
          <a:prstGeom prst="rect">
            <a:avLst/>
          </a:prstGeom>
          <a:solidFill>
            <a:srgbClr val="151A25"/>
          </a:solidFill>
          <a:ln w="6350">
            <a:solidFill>
              <a:srgbClr val="1E253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599984" y="2212848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8EDF5"/>
                </a:solidFill>
              </a:rPr>
              <a:t>48.2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221776" y="2194560"/>
            <a:ext cx="658368" cy="329184"/>
          </a:xfrm>
          <a:prstGeom prst="rect">
            <a:avLst/>
          </a:prstGeom>
          <a:solidFill>
            <a:srgbClr val="151A25"/>
          </a:solidFill>
          <a:ln w="6350">
            <a:solidFill>
              <a:srgbClr val="1E253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258352" y="2212848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8EDF5"/>
                </a:solidFill>
              </a:rPr>
              <a:t>46.5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80144" y="2194560"/>
            <a:ext cx="658368" cy="329184"/>
          </a:xfrm>
          <a:prstGeom prst="rect">
            <a:avLst/>
          </a:prstGeom>
          <a:solidFill>
            <a:srgbClr val="151A25"/>
          </a:solidFill>
          <a:ln w="6350">
            <a:solidFill>
              <a:srgbClr val="1E25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916720" y="2212848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8EDF5"/>
                </a:solidFill>
              </a:rPr>
              <a:t>47.0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538512" y="2194560"/>
            <a:ext cx="822960" cy="329184"/>
          </a:xfrm>
          <a:prstGeom prst="rect">
            <a:avLst/>
          </a:prstGeom>
          <a:solidFill>
            <a:srgbClr val="151A25"/>
          </a:solidFill>
          <a:ln w="6350">
            <a:solidFill>
              <a:srgbClr val="1E253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575088" y="221284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AA"/>
                </a:solidFill>
              </a:rPr>
              <a:t>✓ Clear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877608" y="2542032"/>
            <a:ext cx="685800" cy="329184"/>
          </a:xfrm>
          <a:prstGeom prst="rect">
            <a:avLst/>
          </a:prstGeom>
          <a:solidFill>
            <a:srgbClr val="151A25"/>
          </a:solidFill>
          <a:ln w="6350">
            <a:solidFill>
              <a:srgbClr val="1E253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14184" y="2560320"/>
            <a:ext cx="612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8EDF5"/>
                </a:solidFill>
              </a:rPr>
              <a:t>Feb 24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63408" y="2542032"/>
            <a:ext cx="658368" cy="329184"/>
          </a:xfrm>
          <a:prstGeom prst="rect">
            <a:avLst/>
          </a:prstGeom>
          <a:solidFill>
            <a:srgbClr val="151A25"/>
          </a:solidFill>
          <a:ln w="6350">
            <a:solidFill>
              <a:srgbClr val="1E253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99984" y="256032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8EDF5"/>
                </a:solidFill>
              </a:rPr>
              <a:t>51.0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221776" y="2542032"/>
            <a:ext cx="658368" cy="329184"/>
          </a:xfrm>
          <a:prstGeom prst="rect">
            <a:avLst/>
          </a:prstGeom>
          <a:solidFill>
            <a:srgbClr val="151A25"/>
          </a:solidFill>
          <a:ln w="6350">
            <a:solidFill>
              <a:srgbClr val="1E253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258352" y="256032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8EDF5"/>
                </a:solidFill>
              </a:rPr>
              <a:t>49.0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880144" y="2542032"/>
            <a:ext cx="658368" cy="329184"/>
          </a:xfrm>
          <a:prstGeom prst="rect">
            <a:avLst/>
          </a:prstGeom>
          <a:solidFill>
            <a:srgbClr val="151A25"/>
          </a:solidFill>
          <a:ln w="6350">
            <a:solidFill>
              <a:srgbClr val="1E253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916720" y="256032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8EDF5"/>
                </a:solidFill>
              </a:rPr>
              <a:t>48.0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538512" y="2542032"/>
            <a:ext cx="822960" cy="329184"/>
          </a:xfrm>
          <a:prstGeom prst="rect">
            <a:avLst/>
          </a:prstGeom>
          <a:solidFill>
            <a:srgbClr val="151A25"/>
          </a:solidFill>
          <a:ln w="6350">
            <a:solidFill>
              <a:srgbClr val="1E253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575088" y="256032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AA"/>
                </a:solidFill>
              </a:rPr>
              <a:t>✓ Clear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4877608" y="2889504"/>
            <a:ext cx="685800" cy="329184"/>
          </a:xfrm>
          <a:prstGeom prst="rect">
            <a:avLst/>
          </a:prstGeom>
          <a:solidFill>
            <a:srgbClr val="000000"/>
          </a:solidFill>
          <a:ln w="6350">
            <a:solidFill>
              <a:srgbClr val="1E253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914184" y="2907792"/>
            <a:ext cx="612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8EDF5"/>
                </a:solidFill>
              </a:rPr>
              <a:t>Mar 24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5563408" y="2889504"/>
            <a:ext cx="658368" cy="329184"/>
          </a:xfrm>
          <a:prstGeom prst="rect">
            <a:avLst/>
          </a:prstGeom>
          <a:solidFill>
            <a:srgbClr val="000000"/>
          </a:solidFill>
          <a:ln w="6350">
            <a:solidFill>
              <a:srgbClr val="1E253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599984" y="2907792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8EDF5"/>
                </a:solidFill>
              </a:rPr>
              <a:t>89.0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6221776" y="2889504"/>
            <a:ext cx="658368" cy="329184"/>
          </a:xfrm>
          <a:prstGeom prst="rect">
            <a:avLst/>
          </a:prstGeom>
          <a:solidFill>
            <a:srgbClr val="000000"/>
          </a:solidFill>
          <a:ln w="6350">
            <a:solidFill>
              <a:srgbClr val="1E253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258352" y="2907792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8EDF5"/>
                </a:solidFill>
              </a:rPr>
              <a:t>42.0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6880144" y="2889504"/>
            <a:ext cx="658368" cy="329184"/>
          </a:xfrm>
          <a:prstGeom prst="rect">
            <a:avLst/>
          </a:prstGeom>
          <a:solidFill>
            <a:srgbClr val="000000"/>
          </a:solidFill>
          <a:ln w="6350">
            <a:solidFill>
              <a:srgbClr val="1E253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916720" y="2907792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8EDF5"/>
                </a:solidFill>
              </a:rPr>
              <a:t>45.0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7538512" y="2889504"/>
            <a:ext cx="822960" cy="329184"/>
          </a:xfrm>
          <a:prstGeom prst="rect">
            <a:avLst/>
          </a:prstGeom>
          <a:solidFill>
            <a:srgbClr val="000000"/>
          </a:solidFill>
          <a:ln w="6350">
            <a:solidFill>
              <a:srgbClr val="1E253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575088" y="2907792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F4444"/>
                </a:solidFill>
              </a:rPr>
              <a:t>⚠ +112%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4877608" y="3236976"/>
            <a:ext cx="685800" cy="329184"/>
          </a:xfrm>
          <a:prstGeom prst="rect">
            <a:avLst/>
          </a:prstGeom>
          <a:solidFill>
            <a:srgbClr val="000000"/>
          </a:solidFill>
          <a:ln w="6350">
            <a:solidFill>
              <a:srgbClr val="1E253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914184" y="3255264"/>
            <a:ext cx="612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8EDF5"/>
                </a:solidFill>
              </a:rPr>
              <a:t>Jun 24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5563408" y="3236976"/>
            <a:ext cx="658368" cy="329184"/>
          </a:xfrm>
          <a:prstGeom prst="rect">
            <a:avLst/>
          </a:prstGeom>
          <a:solidFill>
            <a:srgbClr val="000000"/>
          </a:solidFill>
          <a:ln w="6350">
            <a:solidFill>
              <a:srgbClr val="1E253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599984" y="3255264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8EDF5"/>
                </a:solidFill>
              </a:rPr>
              <a:t>92.0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6221776" y="3236976"/>
            <a:ext cx="658368" cy="329184"/>
          </a:xfrm>
          <a:prstGeom prst="rect">
            <a:avLst/>
          </a:prstGeom>
          <a:solidFill>
            <a:srgbClr val="000000"/>
          </a:solidFill>
          <a:ln w="6350">
            <a:solidFill>
              <a:srgbClr val="1E253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258352" y="3255264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8EDF5"/>
                </a:solidFill>
              </a:rPr>
              <a:t>41.0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6880144" y="3236976"/>
            <a:ext cx="658368" cy="329184"/>
          </a:xfrm>
          <a:prstGeom prst="rect">
            <a:avLst/>
          </a:prstGeom>
          <a:solidFill>
            <a:srgbClr val="000000"/>
          </a:solidFill>
          <a:ln w="6350">
            <a:solidFill>
              <a:srgbClr val="1E253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916720" y="3255264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8EDF5"/>
                </a:solidFill>
              </a:rPr>
              <a:t>43.0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7538512" y="3236976"/>
            <a:ext cx="822960" cy="329184"/>
          </a:xfrm>
          <a:prstGeom prst="rect">
            <a:avLst/>
          </a:prstGeom>
          <a:solidFill>
            <a:srgbClr val="000000"/>
          </a:solidFill>
          <a:ln w="6350">
            <a:solidFill>
              <a:srgbClr val="1E253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575088" y="3255264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F4444"/>
                </a:solidFill>
              </a:rPr>
              <a:t>⚠ +124%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4745736" y="3639312"/>
            <a:ext cx="3895344" cy="822960"/>
          </a:xfrm>
          <a:prstGeom prst="rect">
            <a:avLst/>
          </a:prstGeom>
          <a:solidFill>
            <a:srgbClr val="EF4444">
              <a:alpha val="10000"/>
            </a:srgbClr>
          </a:solidFill>
          <a:ln w="9525">
            <a:solidFill>
              <a:srgbClr val="EF4444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754880" y="3694176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 smtClean="0">
                <a:solidFill>
                  <a:srgbClr val="EF4444"/>
                </a:solidFill>
              </a:rPr>
              <a:t>        </a:t>
            </a:r>
            <a:r>
              <a:rPr lang="en-US" sz="850" b="1" dirty="0">
                <a:solidFill>
                  <a:srgbClr val="EF4444"/>
                </a:solidFill>
              </a:rPr>
              <a:t>AI Finding: </a:t>
            </a:r>
            <a:r>
              <a:rPr lang="en-US" sz="850" dirty="0">
                <a:solidFill>
                  <a:srgbClr val="E8EDF5"/>
                </a:solidFill>
              </a:rPr>
              <a:t>GSTR-3B in Mar &amp; Jun show revenue 112–124% above GSTR-2A purchase data — strong indicator of circular trading / revenue inflation.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365760" y="4645152"/>
            <a:ext cx="3931920" cy="310896"/>
          </a:xfrm>
          <a:prstGeom prst="rect">
            <a:avLst/>
          </a:prstGeom>
          <a:solidFill>
            <a:srgbClr val="10141C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8" name="Text 86"/>
          <p:cNvSpPr/>
          <p:nvPr/>
        </p:nvSpPr>
        <p:spPr>
          <a:xfrm>
            <a:off x="457200" y="4681728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 smtClean="0">
                <a:solidFill>
                  <a:srgbClr val="6B7A99"/>
                </a:solidFill>
              </a:rPr>
              <a:t>  </a:t>
            </a:r>
            <a:r>
              <a:rPr lang="en-US" sz="850" i="1" dirty="0">
                <a:solidFill>
                  <a:srgbClr val="6B7A99"/>
                </a:solidFill>
              </a:rPr>
              <a:t>Credit Officer notes (site visit, DD) auto-parsed into risk score</a:t>
            </a:r>
            <a:endParaRPr lang="en-US" sz="850" dirty="0"/>
          </a:p>
        </p:txBody>
      </p:sp>
      <p:pic>
        <p:nvPicPr>
          <p:cNvPr id="89" name="Picture 2" descr="Writing 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1273899"/>
            <a:ext cx="365760" cy="365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0" name="Picture 4" descr="Documents 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1975104"/>
            <a:ext cx="365760" cy="365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8" name="Picture 2" descr="Bank 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920" y="2706624"/>
            <a:ext cx="365760" cy="365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Finance 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920" y="3483864"/>
            <a:ext cx="365760" cy="365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Skyline 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4169664"/>
            <a:ext cx="365760" cy="365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Microchip 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7024" y="3928311"/>
            <a:ext cx="137160" cy="137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64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D4AA"/>
                </a:solidFill>
              </a:rPr>
              <a:t>PILLAR 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ED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Research Agent — The Digital Credit Manager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20040" y="1555743"/>
            <a:ext cx="2103120" cy="594360"/>
          </a:xfrm>
          <a:prstGeom prst="rect">
            <a:avLst/>
          </a:prstGeom>
          <a:solidFill>
            <a:srgbClr val="151A25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" y="1555743"/>
            <a:ext cx="45720" cy="594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" y="1628895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 smtClean="0">
                <a:solidFill>
                  <a:srgbClr val="E8EDF5"/>
                </a:solidFill>
              </a:rPr>
              <a:t> Economic </a:t>
            </a:r>
            <a:r>
              <a:rPr lang="en-US" sz="900" dirty="0">
                <a:solidFill>
                  <a:srgbClr val="E8EDF5"/>
                </a:solidFill>
              </a:rPr>
              <a:t>Times / Moneycontrol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60320" y="1555743"/>
            <a:ext cx="2103120" cy="594360"/>
          </a:xfrm>
          <a:prstGeom prst="rect">
            <a:avLst/>
          </a:prstGeom>
          <a:solidFill>
            <a:srgbClr val="151A25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60320" y="1555743"/>
            <a:ext cx="45720" cy="594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79192" y="1628895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 err="1" smtClean="0">
                <a:solidFill>
                  <a:srgbClr val="E8EDF5"/>
                </a:solidFill>
              </a:rPr>
              <a:t>eCourts</a:t>
            </a:r>
            <a:r>
              <a:rPr lang="en-US" sz="900" dirty="0" smtClean="0">
                <a:solidFill>
                  <a:srgbClr val="E8EDF5"/>
                </a:solidFill>
              </a:rPr>
              <a:t> </a:t>
            </a:r>
            <a:r>
              <a:rPr lang="en-US" sz="900" dirty="0">
                <a:solidFill>
                  <a:srgbClr val="E8EDF5"/>
                </a:solidFill>
              </a:rPr>
              <a:t>Portal — Litigation History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" y="2241543"/>
            <a:ext cx="2103120" cy="594360"/>
          </a:xfrm>
          <a:prstGeom prst="rect">
            <a:avLst/>
          </a:prstGeom>
          <a:solidFill>
            <a:srgbClr val="151A25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" y="2241543"/>
            <a:ext cx="45720" cy="594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" y="2314695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 smtClean="0">
                <a:solidFill>
                  <a:srgbClr val="E8EDF5"/>
                </a:solidFill>
              </a:rPr>
              <a:t> </a:t>
            </a:r>
            <a:r>
              <a:rPr lang="en-US" sz="900" dirty="0">
                <a:solidFill>
                  <a:srgbClr val="E8EDF5"/>
                </a:solidFill>
              </a:rPr>
              <a:t>MCA21 — Director &amp; Charge Data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560320" y="2241543"/>
            <a:ext cx="2103120" cy="594360"/>
          </a:xfrm>
          <a:prstGeom prst="rect">
            <a:avLst/>
          </a:prstGeom>
          <a:solidFill>
            <a:srgbClr val="151A25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560320" y="2241543"/>
            <a:ext cx="45720" cy="594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79192" y="2314695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 smtClean="0">
                <a:solidFill>
                  <a:srgbClr val="E8EDF5"/>
                </a:solidFill>
              </a:rPr>
              <a:t>SFIO </a:t>
            </a:r>
            <a:r>
              <a:rPr lang="en-US" sz="900" dirty="0">
                <a:solidFill>
                  <a:srgbClr val="E8EDF5"/>
                </a:solidFill>
              </a:rPr>
              <a:t>Enforcement Database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20040" y="2927343"/>
            <a:ext cx="2103120" cy="594360"/>
          </a:xfrm>
          <a:prstGeom prst="rect">
            <a:avLst/>
          </a:prstGeom>
          <a:solidFill>
            <a:srgbClr val="151A25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" y="2927343"/>
            <a:ext cx="45720" cy="59436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8912" y="3000495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 smtClean="0">
                <a:solidFill>
                  <a:srgbClr val="E8EDF5"/>
                </a:solidFill>
              </a:rPr>
              <a:t>  </a:t>
            </a:r>
            <a:r>
              <a:rPr lang="en-US" sz="900" dirty="0">
                <a:solidFill>
                  <a:srgbClr val="E8EDF5"/>
                </a:solidFill>
              </a:rPr>
              <a:t>ICRA / CRISIL Sector Reports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560320" y="2927343"/>
            <a:ext cx="2103120" cy="594360"/>
          </a:xfrm>
          <a:prstGeom prst="rect">
            <a:avLst/>
          </a:prstGeom>
          <a:solidFill>
            <a:srgbClr val="151A25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560320" y="2927343"/>
            <a:ext cx="45720" cy="594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3000495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 smtClean="0">
                <a:solidFill>
                  <a:srgbClr val="E8EDF5"/>
                </a:solidFill>
              </a:rPr>
              <a:t> </a:t>
            </a:r>
            <a:r>
              <a:rPr lang="en-US" sz="900" dirty="0">
                <a:solidFill>
                  <a:srgbClr val="E8EDF5"/>
                </a:solidFill>
              </a:rPr>
              <a:t>CIBIL Commercial Reports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843732" y="112471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4AA"/>
                </a:solidFill>
              </a:rPr>
              <a:t>Sample Findings — Sharma Chemicals Ltd.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843732" y="1508760"/>
            <a:ext cx="4069080" cy="713232"/>
          </a:xfrm>
          <a:prstGeom prst="rect">
            <a:avLst/>
          </a:prstGeom>
          <a:solidFill>
            <a:srgbClr val="151A25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843732" y="1508760"/>
            <a:ext cx="41148" cy="71323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35172" y="1554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282644" y="1572768"/>
            <a:ext cx="640080" cy="201168"/>
          </a:xfrm>
          <a:prstGeom prst="rect">
            <a:avLst/>
          </a:prstGeom>
          <a:solidFill>
            <a:srgbClr val="EF4444">
              <a:alpha val="18000"/>
            </a:srgbClr>
          </a:solidFill>
          <a:ln w="6350">
            <a:solidFill>
              <a:srgbClr val="EF444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282644" y="15727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EF4444"/>
                </a:solidFill>
              </a:rPr>
              <a:t>HIGH RISK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4935172" y="1801368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8EDF5"/>
                </a:solidFill>
              </a:rPr>
              <a:t>DRT Mumbai: Recovery suit ₹4.2 Cr (PNB)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935172" y="2039112"/>
            <a:ext cx="3886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</a:rPr>
              <a:t>eCourts Portal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843732" y="2313432"/>
            <a:ext cx="4069080" cy="713232"/>
          </a:xfrm>
          <a:prstGeom prst="rect">
            <a:avLst/>
          </a:prstGeom>
          <a:solidFill>
            <a:srgbClr val="151A25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843732" y="2313432"/>
            <a:ext cx="41148" cy="7132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35172" y="23591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5282644" y="2377440"/>
            <a:ext cx="640080" cy="201168"/>
          </a:xfrm>
          <a:prstGeom prst="rect">
            <a:avLst/>
          </a:prstGeom>
          <a:solidFill>
            <a:srgbClr val="F59E0B">
              <a:alpha val="18000"/>
            </a:srgbClr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82644" y="237744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59E0B"/>
                </a:solidFill>
              </a:rPr>
              <a:t>CAUTION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4935172" y="2606040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8EDF5"/>
                </a:solidFill>
              </a:rPr>
              <a:t>Promoter named in SFIO probe — related-party txns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935172" y="2843784"/>
            <a:ext cx="3886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</a:rPr>
              <a:t>Economic Times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4843732" y="3118104"/>
            <a:ext cx="4069080" cy="713232"/>
          </a:xfrm>
          <a:prstGeom prst="rect">
            <a:avLst/>
          </a:prstGeom>
          <a:solidFill>
            <a:srgbClr val="151A25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843732" y="3118104"/>
            <a:ext cx="41148" cy="713232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35172" y="316382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5282644" y="3182112"/>
            <a:ext cx="640080" cy="201168"/>
          </a:xfrm>
          <a:prstGeom prst="rect">
            <a:avLst/>
          </a:prstGeom>
          <a:solidFill>
            <a:srgbClr val="00D4AA">
              <a:alpha val="18000"/>
            </a:srgbClr>
          </a:solidFill>
          <a:ln w="6350">
            <a:solidFill>
              <a:srgbClr val="00D4A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82644" y="318211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00D4AA"/>
                </a:solidFill>
              </a:rPr>
              <a:t>POSITIVE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4935172" y="341071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8EDF5"/>
                </a:solidFill>
              </a:rPr>
              <a:t>Sector: Specialty chemicals +18% FY26 — ICRA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4935172" y="3648456"/>
            <a:ext cx="3886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</a:rPr>
              <a:t>Business Standard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4843732" y="3922776"/>
            <a:ext cx="4069080" cy="713232"/>
          </a:xfrm>
          <a:prstGeom prst="rect">
            <a:avLst/>
          </a:prstGeom>
          <a:solidFill>
            <a:srgbClr val="151A25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843732" y="3922776"/>
            <a:ext cx="41148" cy="7132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935172" y="396849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5282644" y="3986784"/>
            <a:ext cx="640080" cy="201168"/>
          </a:xfrm>
          <a:prstGeom prst="rect">
            <a:avLst/>
          </a:prstGeom>
          <a:solidFill>
            <a:srgbClr val="F59E0B">
              <a:alpha val="18000"/>
            </a:srgbClr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82644" y="398678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59E0B"/>
                </a:solidFill>
              </a:rPr>
              <a:t>CAUTION</a:t>
            </a:r>
            <a:endParaRPr lang="en-US" sz="650" dirty="0"/>
          </a:p>
        </p:txBody>
      </p:sp>
      <p:sp>
        <p:nvSpPr>
          <p:cNvPr id="52" name="Text 50"/>
          <p:cNvSpPr/>
          <p:nvPr/>
        </p:nvSpPr>
        <p:spPr>
          <a:xfrm>
            <a:off x="4935172" y="4215384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8EDF5"/>
                </a:solidFill>
              </a:rPr>
              <a:t>GST penalty ₹12L for missed Q2 deadline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4935172" y="4453128"/>
            <a:ext cx="3886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</a:rPr>
              <a:t>Moneycontrol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320040" y="3658863"/>
            <a:ext cx="4297680" cy="594360"/>
          </a:xfrm>
          <a:prstGeom prst="rect">
            <a:avLst/>
          </a:prstGeom>
          <a:solidFill>
            <a:srgbClr val="10141C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320040" y="3658863"/>
            <a:ext cx="45720" cy="59436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7200" y="3713727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 smtClean="0">
                <a:solidFill>
                  <a:srgbClr val="00D4AA"/>
                </a:solidFill>
              </a:rPr>
              <a:t> </a:t>
            </a:r>
            <a:r>
              <a:rPr lang="en-US" sz="1000" b="1" dirty="0">
                <a:solidFill>
                  <a:srgbClr val="00D4AA"/>
                </a:solidFill>
              </a:rPr>
              <a:t>Qualitative Portal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457200" y="3933183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99"/>
                </a:solidFill>
              </a:rPr>
              <a:t>Credit officers enter site visit observations → AI adjusts risk score in real-time based on NLP sentiment + key triggers</a:t>
            </a:r>
            <a:endParaRPr lang="en-US" sz="850" dirty="0"/>
          </a:p>
        </p:txBody>
      </p:sp>
      <p:pic>
        <p:nvPicPr>
          <p:cNvPr id="5122" name="Picture 2" descr="Risk assessment 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6884" y="1519988"/>
            <a:ext cx="320040" cy="320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Caution 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6884" y="2318004"/>
            <a:ext cx="320040" cy="320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2" name="Picture 4" descr="Caution 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5172" y="3927348"/>
            <a:ext cx="320040" cy="320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 descr="Accept 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5172" y="3163824"/>
            <a:ext cx="283464" cy="283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64" name="Text 3"/>
          <p:cNvSpPr/>
          <p:nvPr/>
        </p:nvSpPr>
        <p:spPr>
          <a:xfrm>
            <a:off x="365760" y="1097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5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03  ·  CAM &amp; DECISION ENGINE</a:t>
            </a:r>
            <a:endParaRPr lang="en-US" sz="850" dirty="0"/>
          </a:p>
        </p:txBody>
      </p:sp>
      <p:sp>
        <p:nvSpPr>
          <p:cNvPr id="65" name="Text 4"/>
          <p:cNvSpPr/>
          <p:nvPr/>
        </p:nvSpPr>
        <p:spPr>
          <a:xfrm>
            <a:off x="365760" y="32004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E2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Appraisal Memo &amp; AI Recommendation</a:t>
            </a:r>
            <a:endParaRPr lang="en-US" sz="2300" dirty="0"/>
          </a:p>
        </p:txBody>
      </p:sp>
      <p:sp>
        <p:nvSpPr>
          <p:cNvPr id="66" name="Text 5"/>
          <p:cNvSpPr/>
          <p:nvPr/>
        </p:nvSpPr>
        <p:spPr>
          <a:xfrm>
            <a:off x="292608" y="111556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Cs Scoring</a:t>
            </a:r>
            <a:endParaRPr lang="en-US" sz="1000" dirty="0"/>
          </a:p>
        </p:txBody>
      </p:sp>
      <p:sp>
        <p:nvSpPr>
          <p:cNvPr id="67" name="Shape 6"/>
          <p:cNvSpPr/>
          <p:nvPr/>
        </p:nvSpPr>
        <p:spPr>
          <a:xfrm>
            <a:off x="292608" y="1389888"/>
            <a:ext cx="2743200" cy="502920"/>
          </a:xfrm>
          <a:prstGeom prst="rect">
            <a:avLst/>
          </a:prstGeom>
          <a:solidFill>
            <a:srgbClr val="111827"/>
          </a:solidFill>
          <a:ln w="9525">
            <a:solidFill>
              <a:srgbClr val="1F2D3D"/>
            </a:solidFill>
            <a:prstDash val="solid"/>
          </a:ln>
          <a:effectLst>
            <a:outerShdw blurRad="127000" dist="38100" dir="8100000" algn="bl" rotWithShape="0">
              <a:srgbClr val="000000">
                <a:alpha val="28000"/>
              </a:srgbClr>
            </a:outerShdw>
          </a:effectLst>
        </p:spPr>
      </p:sp>
      <p:sp>
        <p:nvSpPr>
          <p:cNvPr id="68" name="Shape 7"/>
          <p:cNvSpPr/>
          <p:nvPr/>
        </p:nvSpPr>
        <p:spPr>
          <a:xfrm>
            <a:off x="292608" y="1389888"/>
            <a:ext cx="50292" cy="502920"/>
          </a:xfrm>
          <a:prstGeom prst="rect">
            <a:avLst/>
          </a:prstGeom>
          <a:solidFill>
            <a:srgbClr val="E8455A"/>
          </a:solidFill>
          <a:ln w="12700">
            <a:solidFill>
              <a:srgbClr val="E8455A"/>
            </a:solidFill>
            <a:prstDash val="solid"/>
          </a:ln>
        </p:spPr>
      </p:sp>
      <p:sp>
        <p:nvSpPr>
          <p:cNvPr id="69" name="Text 8"/>
          <p:cNvSpPr/>
          <p:nvPr/>
        </p:nvSpPr>
        <p:spPr>
          <a:xfrm>
            <a:off x="402336" y="143560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 smtClean="0">
                <a:solidFill>
                  <a:srgbClr val="E2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</a:t>
            </a:r>
            <a:endParaRPr lang="en-US" sz="1050" dirty="0"/>
          </a:p>
        </p:txBody>
      </p:sp>
      <p:sp>
        <p:nvSpPr>
          <p:cNvPr id="70" name="Shape 9"/>
          <p:cNvSpPr/>
          <p:nvPr/>
        </p:nvSpPr>
        <p:spPr>
          <a:xfrm>
            <a:off x="402336" y="1691640"/>
            <a:ext cx="2377440" cy="109728"/>
          </a:xfrm>
          <a:prstGeom prst="rect">
            <a:avLst/>
          </a:prstGeom>
          <a:solidFill>
            <a:srgbClr val="1F2D3D"/>
          </a:solidFill>
          <a:ln w="12700">
            <a:solidFill>
              <a:srgbClr val="1F2D3D"/>
            </a:solidFill>
            <a:prstDash val="solid"/>
          </a:ln>
        </p:spPr>
      </p:sp>
      <p:sp>
        <p:nvSpPr>
          <p:cNvPr id="71" name="Shape 10"/>
          <p:cNvSpPr/>
          <p:nvPr/>
        </p:nvSpPr>
        <p:spPr>
          <a:xfrm>
            <a:off x="402336" y="1691640"/>
            <a:ext cx="1236269" cy="109728"/>
          </a:xfrm>
          <a:prstGeom prst="rect">
            <a:avLst/>
          </a:prstGeom>
          <a:solidFill>
            <a:srgbClr val="E8455A"/>
          </a:solidFill>
          <a:ln w="12700">
            <a:solidFill>
              <a:srgbClr val="E8455A"/>
            </a:solidFill>
            <a:prstDash val="solid"/>
          </a:ln>
        </p:spPr>
      </p:sp>
      <p:sp>
        <p:nvSpPr>
          <p:cNvPr id="72" name="Text 11"/>
          <p:cNvSpPr/>
          <p:nvPr/>
        </p:nvSpPr>
        <p:spPr>
          <a:xfrm>
            <a:off x="2624328" y="143560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E84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300" dirty="0"/>
          </a:p>
        </p:txBody>
      </p:sp>
      <p:sp>
        <p:nvSpPr>
          <p:cNvPr id="73" name="Shape 12"/>
          <p:cNvSpPr/>
          <p:nvPr/>
        </p:nvSpPr>
        <p:spPr>
          <a:xfrm>
            <a:off x="292608" y="1920240"/>
            <a:ext cx="2743200" cy="502920"/>
          </a:xfrm>
          <a:prstGeom prst="rect">
            <a:avLst/>
          </a:prstGeom>
          <a:solidFill>
            <a:srgbClr val="111827"/>
          </a:solidFill>
          <a:ln w="9525">
            <a:solidFill>
              <a:srgbClr val="1F2D3D"/>
            </a:solidFill>
            <a:prstDash val="solid"/>
          </a:ln>
          <a:effectLst>
            <a:outerShdw blurRad="127000" dist="38100" dir="8100000" algn="bl" rotWithShape="0">
              <a:srgbClr val="000000">
                <a:alpha val="28000"/>
              </a:srgbClr>
            </a:outerShdw>
          </a:effectLst>
        </p:spPr>
      </p:sp>
      <p:sp>
        <p:nvSpPr>
          <p:cNvPr id="74" name="Shape 13"/>
          <p:cNvSpPr/>
          <p:nvPr/>
        </p:nvSpPr>
        <p:spPr>
          <a:xfrm>
            <a:off x="292608" y="1920240"/>
            <a:ext cx="50292" cy="502920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75" name="Text 14"/>
          <p:cNvSpPr/>
          <p:nvPr/>
        </p:nvSpPr>
        <p:spPr>
          <a:xfrm>
            <a:off x="402336" y="196596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 smtClean="0">
                <a:solidFill>
                  <a:srgbClr val="E2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</a:t>
            </a:r>
            <a:endParaRPr lang="en-US" sz="1050" dirty="0"/>
          </a:p>
        </p:txBody>
      </p:sp>
      <p:sp>
        <p:nvSpPr>
          <p:cNvPr id="76" name="Shape 15"/>
          <p:cNvSpPr/>
          <p:nvPr/>
        </p:nvSpPr>
        <p:spPr>
          <a:xfrm>
            <a:off x="402336" y="2221992"/>
            <a:ext cx="2377440" cy="109728"/>
          </a:xfrm>
          <a:prstGeom prst="rect">
            <a:avLst/>
          </a:prstGeom>
          <a:solidFill>
            <a:srgbClr val="1F2D3D"/>
          </a:solidFill>
          <a:ln w="12700">
            <a:solidFill>
              <a:srgbClr val="1F2D3D"/>
            </a:solidFill>
            <a:prstDash val="solid"/>
          </a:ln>
        </p:spPr>
      </p:sp>
      <p:sp>
        <p:nvSpPr>
          <p:cNvPr id="77" name="Shape 16"/>
          <p:cNvSpPr/>
          <p:nvPr/>
        </p:nvSpPr>
        <p:spPr>
          <a:xfrm>
            <a:off x="402336" y="2221992"/>
            <a:ext cx="1687982" cy="109728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78" name="Text 17"/>
          <p:cNvSpPr/>
          <p:nvPr/>
        </p:nvSpPr>
        <p:spPr>
          <a:xfrm>
            <a:off x="2624328" y="196596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300" dirty="0"/>
          </a:p>
        </p:txBody>
      </p:sp>
      <p:sp>
        <p:nvSpPr>
          <p:cNvPr id="79" name="Shape 18"/>
          <p:cNvSpPr/>
          <p:nvPr/>
        </p:nvSpPr>
        <p:spPr>
          <a:xfrm>
            <a:off x="292608" y="2450592"/>
            <a:ext cx="2743200" cy="502920"/>
          </a:xfrm>
          <a:prstGeom prst="rect">
            <a:avLst/>
          </a:prstGeom>
          <a:solidFill>
            <a:srgbClr val="111827"/>
          </a:solidFill>
          <a:ln w="9525">
            <a:solidFill>
              <a:srgbClr val="1F2D3D"/>
            </a:solidFill>
            <a:prstDash val="solid"/>
          </a:ln>
          <a:effectLst>
            <a:outerShdw blurRad="127000" dist="38100" dir="8100000" algn="bl" rotWithShape="0">
              <a:srgbClr val="000000">
                <a:alpha val="28000"/>
              </a:srgbClr>
            </a:outerShdw>
          </a:effectLst>
        </p:spPr>
      </p:sp>
      <p:sp>
        <p:nvSpPr>
          <p:cNvPr id="80" name="Shape 19"/>
          <p:cNvSpPr/>
          <p:nvPr/>
        </p:nvSpPr>
        <p:spPr>
          <a:xfrm>
            <a:off x="292608" y="2450592"/>
            <a:ext cx="50292" cy="502920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81" name="Text 20"/>
          <p:cNvSpPr/>
          <p:nvPr/>
        </p:nvSpPr>
        <p:spPr>
          <a:xfrm>
            <a:off x="402336" y="249631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 smtClean="0">
                <a:solidFill>
                  <a:srgbClr val="E2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</a:t>
            </a:r>
            <a:endParaRPr lang="en-US" sz="1050" dirty="0"/>
          </a:p>
        </p:txBody>
      </p:sp>
      <p:sp>
        <p:nvSpPr>
          <p:cNvPr id="82" name="Shape 21"/>
          <p:cNvSpPr/>
          <p:nvPr/>
        </p:nvSpPr>
        <p:spPr>
          <a:xfrm>
            <a:off x="402336" y="2752344"/>
            <a:ext cx="2377440" cy="109728"/>
          </a:xfrm>
          <a:prstGeom prst="rect">
            <a:avLst/>
          </a:prstGeom>
          <a:solidFill>
            <a:srgbClr val="1F2D3D"/>
          </a:solidFill>
          <a:ln w="12700">
            <a:solidFill>
              <a:srgbClr val="1F2D3D"/>
            </a:solidFill>
            <a:prstDash val="solid"/>
          </a:ln>
        </p:spPr>
      </p:sp>
      <p:sp>
        <p:nvSpPr>
          <p:cNvPr id="83" name="Shape 22"/>
          <p:cNvSpPr/>
          <p:nvPr/>
        </p:nvSpPr>
        <p:spPr>
          <a:xfrm>
            <a:off x="402336" y="2752344"/>
            <a:ext cx="1616659" cy="109728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84" name="Text 23"/>
          <p:cNvSpPr/>
          <p:nvPr/>
        </p:nvSpPr>
        <p:spPr>
          <a:xfrm>
            <a:off x="2624328" y="249631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1300" dirty="0"/>
          </a:p>
        </p:txBody>
      </p:sp>
      <p:sp>
        <p:nvSpPr>
          <p:cNvPr id="85" name="Shape 24"/>
          <p:cNvSpPr/>
          <p:nvPr/>
        </p:nvSpPr>
        <p:spPr>
          <a:xfrm>
            <a:off x="292608" y="2980944"/>
            <a:ext cx="2743200" cy="502920"/>
          </a:xfrm>
          <a:prstGeom prst="rect">
            <a:avLst/>
          </a:prstGeom>
          <a:solidFill>
            <a:srgbClr val="111827"/>
          </a:solidFill>
          <a:ln w="9525">
            <a:solidFill>
              <a:srgbClr val="1F2D3D"/>
            </a:solidFill>
            <a:prstDash val="solid"/>
          </a:ln>
          <a:effectLst>
            <a:outerShdw blurRad="127000" dist="38100" dir="8100000" algn="bl" rotWithShape="0">
              <a:srgbClr val="000000">
                <a:alpha val="28000"/>
              </a:srgbClr>
            </a:outerShdw>
          </a:effectLst>
        </p:spPr>
      </p:sp>
      <p:sp>
        <p:nvSpPr>
          <p:cNvPr id="86" name="Shape 25"/>
          <p:cNvSpPr/>
          <p:nvPr/>
        </p:nvSpPr>
        <p:spPr>
          <a:xfrm>
            <a:off x="292608" y="2980944"/>
            <a:ext cx="50292" cy="50292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87" name="Text 26"/>
          <p:cNvSpPr/>
          <p:nvPr/>
        </p:nvSpPr>
        <p:spPr>
          <a:xfrm>
            <a:off x="402336" y="30266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 smtClean="0">
                <a:solidFill>
                  <a:srgbClr val="E2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Collateral</a:t>
            </a:r>
            <a:endParaRPr lang="en-US" sz="1050" dirty="0"/>
          </a:p>
        </p:txBody>
      </p:sp>
      <p:sp>
        <p:nvSpPr>
          <p:cNvPr id="88" name="Shape 27"/>
          <p:cNvSpPr/>
          <p:nvPr/>
        </p:nvSpPr>
        <p:spPr>
          <a:xfrm>
            <a:off x="402336" y="3282696"/>
            <a:ext cx="2377440" cy="109728"/>
          </a:xfrm>
          <a:prstGeom prst="rect">
            <a:avLst/>
          </a:prstGeom>
          <a:solidFill>
            <a:srgbClr val="1F2D3D"/>
          </a:solidFill>
          <a:ln w="12700">
            <a:solidFill>
              <a:srgbClr val="1F2D3D"/>
            </a:solidFill>
            <a:prstDash val="solid"/>
          </a:ln>
        </p:spPr>
      </p:sp>
      <p:sp>
        <p:nvSpPr>
          <p:cNvPr id="89" name="Shape 28"/>
          <p:cNvSpPr/>
          <p:nvPr/>
        </p:nvSpPr>
        <p:spPr>
          <a:xfrm>
            <a:off x="402336" y="3282696"/>
            <a:ext cx="1759306" cy="109728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90" name="Text 29"/>
          <p:cNvSpPr/>
          <p:nvPr/>
        </p:nvSpPr>
        <p:spPr>
          <a:xfrm>
            <a:off x="2624328" y="302666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300" dirty="0"/>
          </a:p>
        </p:txBody>
      </p:sp>
      <p:sp>
        <p:nvSpPr>
          <p:cNvPr id="91" name="Shape 30"/>
          <p:cNvSpPr/>
          <p:nvPr/>
        </p:nvSpPr>
        <p:spPr>
          <a:xfrm>
            <a:off x="292608" y="3511296"/>
            <a:ext cx="2743200" cy="502920"/>
          </a:xfrm>
          <a:prstGeom prst="rect">
            <a:avLst/>
          </a:prstGeom>
          <a:solidFill>
            <a:srgbClr val="111827"/>
          </a:solidFill>
          <a:ln w="9525">
            <a:solidFill>
              <a:srgbClr val="1F2D3D"/>
            </a:solidFill>
            <a:prstDash val="solid"/>
          </a:ln>
          <a:effectLst>
            <a:outerShdw blurRad="127000" dist="38100" dir="8100000" algn="bl" rotWithShape="0">
              <a:srgbClr val="000000">
                <a:alpha val="28000"/>
              </a:srgbClr>
            </a:outerShdw>
          </a:effectLst>
        </p:spPr>
      </p:sp>
      <p:sp>
        <p:nvSpPr>
          <p:cNvPr id="92" name="Shape 31"/>
          <p:cNvSpPr/>
          <p:nvPr/>
        </p:nvSpPr>
        <p:spPr>
          <a:xfrm>
            <a:off x="292608" y="3511296"/>
            <a:ext cx="50292" cy="502920"/>
          </a:xfrm>
          <a:prstGeom prst="rect">
            <a:avLst/>
          </a:prstGeom>
          <a:solidFill>
            <a:srgbClr val="3D8EF0"/>
          </a:solidFill>
          <a:ln w="12700">
            <a:solidFill>
              <a:srgbClr val="3D8EF0"/>
            </a:solidFill>
            <a:prstDash val="solid"/>
          </a:ln>
        </p:spPr>
      </p:sp>
      <p:sp>
        <p:nvSpPr>
          <p:cNvPr id="93" name="Text 32"/>
          <p:cNvSpPr/>
          <p:nvPr/>
        </p:nvSpPr>
        <p:spPr>
          <a:xfrm>
            <a:off x="402336" y="35570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 smtClean="0">
                <a:solidFill>
                  <a:srgbClr val="E2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</a:t>
            </a:r>
            <a:endParaRPr lang="en-US" sz="1050" dirty="0"/>
          </a:p>
        </p:txBody>
      </p:sp>
      <p:sp>
        <p:nvSpPr>
          <p:cNvPr id="94" name="Shape 33"/>
          <p:cNvSpPr/>
          <p:nvPr/>
        </p:nvSpPr>
        <p:spPr>
          <a:xfrm>
            <a:off x="402336" y="3813048"/>
            <a:ext cx="2377440" cy="109728"/>
          </a:xfrm>
          <a:prstGeom prst="rect">
            <a:avLst/>
          </a:prstGeom>
          <a:solidFill>
            <a:srgbClr val="1F2D3D"/>
          </a:solidFill>
          <a:ln w="12700">
            <a:solidFill>
              <a:srgbClr val="1F2D3D"/>
            </a:solidFill>
            <a:prstDash val="solid"/>
          </a:ln>
        </p:spPr>
      </p:sp>
      <p:sp>
        <p:nvSpPr>
          <p:cNvPr id="95" name="Shape 34"/>
          <p:cNvSpPr/>
          <p:nvPr/>
        </p:nvSpPr>
        <p:spPr>
          <a:xfrm>
            <a:off x="402336" y="3813048"/>
            <a:ext cx="1569110" cy="109728"/>
          </a:xfrm>
          <a:prstGeom prst="rect">
            <a:avLst/>
          </a:prstGeom>
          <a:solidFill>
            <a:srgbClr val="3D8EF0"/>
          </a:solidFill>
          <a:ln w="12700">
            <a:solidFill>
              <a:srgbClr val="3D8EF0"/>
            </a:solidFill>
            <a:prstDash val="solid"/>
          </a:ln>
        </p:spPr>
      </p:sp>
      <p:sp>
        <p:nvSpPr>
          <p:cNvPr id="96" name="Text 35"/>
          <p:cNvSpPr/>
          <p:nvPr/>
        </p:nvSpPr>
        <p:spPr>
          <a:xfrm>
            <a:off x="2624328" y="3557016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3D8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1300" dirty="0"/>
          </a:p>
        </p:txBody>
      </p:sp>
      <p:sp>
        <p:nvSpPr>
          <p:cNvPr id="97" name="Shape 36"/>
          <p:cNvSpPr/>
          <p:nvPr/>
        </p:nvSpPr>
        <p:spPr>
          <a:xfrm>
            <a:off x="292608" y="4114800"/>
            <a:ext cx="2743200" cy="402336"/>
          </a:xfrm>
          <a:prstGeom prst="rect">
            <a:avLst/>
          </a:prstGeom>
          <a:solidFill>
            <a:srgbClr val="0D1117"/>
          </a:solidFill>
          <a:ln w="9525">
            <a:solidFill>
              <a:srgbClr val="F0A500"/>
            </a:solidFill>
            <a:prstDash val="solid"/>
          </a:ln>
          <a:effectLst>
            <a:outerShdw blurRad="127000" dist="38100" dir="8100000" algn="bl" rotWithShape="0">
              <a:srgbClr val="000000">
                <a:alpha val="28000"/>
              </a:srgbClr>
            </a:outerShdw>
          </a:effectLst>
        </p:spPr>
      </p:sp>
      <p:sp>
        <p:nvSpPr>
          <p:cNvPr id="98" name="Text 37"/>
          <p:cNvSpPr/>
          <p:nvPr/>
        </p:nvSpPr>
        <p:spPr>
          <a:xfrm>
            <a:off x="402336" y="416966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Score:</a:t>
            </a:r>
            <a:endParaRPr lang="en-US" sz="950" dirty="0"/>
          </a:p>
        </p:txBody>
      </p:sp>
      <p:sp>
        <p:nvSpPr>
          <p:cNvPr id="99" name="Text 38"/>
          <p:cNvSpPr/>
          <p:nvPr/>
        </p:nvSpPr>
        <p:spPr>
          <a:xfrm>
            <a:off x="1783080" y="4169664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63/100 — MEDIUM-HIGH RISK</a:t>
            </a:r>
            <a:endParaRPr lang="en-US" sz="950" dirty="0"/>
          </a:p>
        </p:txBody>
      </p:sp>
      <p:sp>
        <p:nvSpPr>
          <p:cNvPr id="100" name="Shape 39"/>
          <p:cNvSpPr/>
          <p:nvPr/>
        </p:nvSpPr>
        <p:spPr>
          <a:xfrm>
            <a:off x="3218688" y="1115568"/>
            <a:ext cx="5632704" cy="1956816"/>
          </a:xfrm>
          <a:prstGeom prst="rect">
            <a:avLst/>
          </a:prstGeom>
          <a:solidFill>
            <a:srgbClr val="0D1117"/>
          </a:solidFill>
          <a:ln w="9525">
            <a:solidFill>
              <a:srgbClr val="F0A500"/>
            </a:solidFill>
            <a:prstDash val="solid"/>
          </a:ln>
          <a:effectLst>
            <a:outerShdw blurRad="127000" dist="38100" dir="81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01" name="Text 40"/>
          <p:cNvSpPr/>
          <p:nvPr/>
        </p:nvSpPr>
        <p:spPr>
          <a:xfrm>
            <a:off x="3328416" y="118872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 smtClean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</a:t>
            </a:r>
            <a:r>
              <a:rPr lang="en-US" sz="1000" b="1" kern="0" spc="15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/>
          </a:p>
        </p:txBody>
      </p:sp>
      <p:sp>
        <p:nvSpPr>
          <p:cNvPr id="102" name="Shape 41"/>
          <p:cNvSpPr/>
          <p:nvPr/>
        </p:nvSpPr>
        <p:spPr>
          <a:xfrm>
            <a:off x="3328416" y="1499616"/>
            <a:ext cx="5394960" cy="420624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103" name="Text 42"/>
          <p:cNvSpPr/>
          <p:nvPr/>
        </p:nvSpPr>
        <p:spPr>
          <a:xfrm>
            <a:off x="3328416" y="1499616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70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APPROVAL</a:t>
            </a:r>
            <a:endParaRPr lang="en-US" sz="1800" dirty="0"/>
          </a:p>
        </p:txBody>
      </p:sp>
      <p:sp>
        <p:nvSpPr>
          <p:cNvPr id="104" name="Text 43"/>
          <p:cNvSpPr/>
          <p:nvPr/>
        </p:nvSpPr>
        <p:spPr>
          <a:xfrm>
            <a:off x="3328416" y="201168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Limit:</a:t>
            </a:r>
            <a:endParaRPr lang="en-US" sz="900" dirty="0"/>
          </a:p>
        </p:txBody>
      </p:sp>
      <p:sp>
        <p:nvSpPr>
          <p:cNvPr id="105" name="Text 44"/>
          <p:cNvSpPr/>
          <p:nvPr/>
        </p:nvSpPr>
        <p:spPr>
          <a:xfrm>
            <a:off x="4572000" y="2011680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₹8.5 Crore  (vs ₹15 Cr requested  ·  57% of ask)</a:t>
            </a:r>
            <a:endParaRPr lang="en-US" sz="900" dirty="0"/>
          </a:p>
        </p:txBody>
      </p:sp>
      <p:sp>
        <p:nvSpPr>
          <p:cNvPr id="106" name="Text 45"/>
          <p:cNvSpPr/>
          <p:nvPr/>
        </p:nvSpPr>
        <p:spPr>
          <a:xfrm>
            <a:off x="3328416" y="225856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Rate:</a:t>
            </a:r>
            <a:endParaRPr lang="en-US" sz="900" dirty="0"/>
          </a:p>
        </p:txBody>
      </p:sp>
      <p:sp>
        <p:nvSpPr>
          <p:cNvPr id="107" name="Text 46"/>
          <p:cNvSpPr/>
          <p:nvPr/>
        </p:nvSpPr>
        <p:spPr>
          <a:xfrm>
            <a:off x="4572000" y="2258568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MCLR + 2.75%  (~11.5% p.a.)</a:t>
            </a:r>
            <a:endParaRPr lang="en-US" sz="900" dirty="0"/>
          </a:p>
        </p:txBody>
      </p:sp>
      <p:sp>
        <p:nvSpPr>
          <p:cNvPr id="108" name="Text 47"/>
          <p:cNvSpPr/>
          <p:nvPr/>
        </p:nvSpPr>
        <p:spPr>
          <a:xfrm>
            <a:off x="3328416" y="2505456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Tenor:</a:t>
            </a:r>
            <a:endParaRPr lang="en-US" sz="900" dirty="0"/>
          </a:p>
        </p:txBody>
      </p:sp>
      <p:sp>
        <p:nvSpPr>
          <p:cNvPr id="109" name="Text 48"/>
          <p:cNvSpPr/>
          <p:nvPr/>
        </p:nvSpPr>
        <p:spPr>
          <a:xfrm>
            <a:off x="4572000" y="250545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months</a:t>
            </a:r>
            <a:endParaRPr lang="en-US" sz="900" dirty="0"/>
          </a:p>
        </p:txBody>
      </p:sp>
      <p:sp>
        <p:nvSpPr>
          <p:cNvPr id="110" name="Text 49"/>
          <p:cNvSpPr/>
          <p:nvPr/>
        </p:nvSpPr>
        <p:spPr>
          <a:xfrm>
            <a:off x="3328416" y="2752344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Security:</a:t>
            </a:r>
            <a:endParaRPr lang="en-US" sz="900" dirty="0"/>
          </a:p>
        </p:txBody>
      </p:sp>
      <p:sp>
        <p:nvSpPr>
          <p:cNvPr id="111" name="Text 50"/>
          <p:cNvSpPr/>
          <p:nvPr/>
        </p:nvSpPr>
        <p:spPr>
          <a:xfrm>
            <a:off x="4572000" y="275234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property (₹38 Cr)  +  Promoter personal guarantee</a:t>
            </a:r>
            <a:endParaRPr lang="en-US" sz="900" dirty="0"/>
          </a:p>
        </p:txBody>
      </p:sp>
      <p:sp>
        <p:nvSpPr>
          <p:cNvPr id="112" name="Shape 51"/>
          <p:cNvSpPr/>
          <p:nvPr/>
        </p:nvSpPr>
        <p:spPr>
          <a:xfrm>
            <a:off x="3218688" y="3145536"/>
            <a:ext cx="2706624" cy="1371600"/>
          </a:xfrm>
          <a:prstGeom prst="rect">
            <a:avLst/>
          </a:prstGeom>
          <a:solidFill>
            <a:srgbClr val="0D1117"/>
          </a:solidFill>
          <a:ln w="9525">
            <a:solidFill>
              <a:srgbClr val="3D8EF0"/>
            </a:solidFill>
            <a:prstDash val="solid"/>
          </a:ln>
          <a:effectLst>
            <a:outerShdw blurRad="127000" dist="38100" dir="81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13" name="Text 52"/>
          <p:cNvSpPr/>
          <p:nvPr/>
        </p:nvSpPr>
        <p:spPr>
          <a:xfrm>
            <a:off x="3328416" y="3218688"/>
            <a:ext cx="2487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 smtClean="0">
                <a:solidFill>
                  <a:srgbClr val="3D8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</a:t>
            </a:r>
            <a:r>
              <a:rPr lang="en-US" sz="1000" b="1" dirty="0">
                <a:solidFill>
                  <a:srgbClr val="3D8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1000" dirty="0"/>
          </a:p>
        </p:txBody>
      </p:sp>
      <p:sp>
        <p:nvSpPr>
          <p:cNvPr id="114" name="Text 53"/>
          <p:cNvSpPr/>
          <p:nvPr/>
        </p:nvSpPr>
        <p:spPr>
          <a:xfrm>
            <a:off x="3328416" y="35112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2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Promoter litigation</a:t>
            </a:r>
            <a:endParaRPr lang="en-US" sz="850" dirty="0"/>
          </a:p>
        </p:txBody>
      </p:sp>
      <p:sp>
        <p:nvSpPr>
          <p:cNvPr id="115" name="Text 54"/>
          <p:cNvSpPr/>
          <p:nvPr/>
        </p:nvSpPr>
        <p:spPr>
          <a:xfrm>
            <a:off x="5248656" y="3511296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E84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−18 pts</a:t>
            </a:r>
            <a:endParaRPr lang="en-US" sz="850" dirty="0"/>
          </a:p>
        </p:txBody>
      </p:sp>
      <p:sp>
        <p:nvSpPr>
          <p:cNvPr id="116" name="Text 55"/>
          <p:cNvSpPr/>
          <p:nvPr/>
        </p:nvSpPr>
        <p:spPr>
          <a:xfrm>
            <a:off x="3328416" y="371246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2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inflation anomaly</a:t>
            </a:r>
            <a:endParaRPr lang="en-US" sz="850" dirty="0"/>
          </a:p>
        </p:txBody>
      </p:sp>
      <p:sp>
        <p:nvSpPr>
          <p:cNvPr id="117" name="Text 56"/>
          <p:cNvSpPr/>
          <p:nvPr/>
        </p:nvSpPr>
        <p:spPr>
          <a:xfrm>
            <a:off x="5248656" y="371246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E84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−11 pts</a:t>
            </a:r>
            <a:endParaRPr lang="en-US" sz="850" dirty="0"/>
          </a:p>
        </p:txBody>
      </p:sp>
      <p:sp>
        <p:nvSpPr>
          <p:cNvPr id="118" name="Text 57"/>
          <p:cNvSpPr/>
          <p:nvPr/>
        </p:nvSpPr>
        <p:spPr>
          <a:xfrm>
            <a:off x="3328416" y="391363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2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utilisation</a:t>
            </a:r>
            <a:endParaRPr lang="en-US" sz="850" dirty="0"/>
          </a:p>
        </p:txBody>
      </p:sp>
      <p:sp>
        <p:nvSpPr>
          <p:cNvPr id="119" name="Text 58"/>
          <p:cNvSpPr/>
          <p:nvPr/>
        </p:nvSpPr>
        <p:spPr>
          <a:xfrm>
            <a:off x="5248656" y="391363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E84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−8 pts</a:t>
            </a:r>
            <a:endParaRPr lang="en-US" sz="850" dirty="0"/>
          </a:p>
        </p:txBody>
      </p:sp>
      <p:sp>
        <p:nvSpPr>
          <p:cNvPr id="120" name="Text 59"/>
          <p:cNvSpPr/>
          <p:nvPr/>
        </p:nvSpPr>
        <p:spPr>
          <a:xfrm>
            <a:off x="3328416" y="411480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2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Collateral coverage</a:t>
            </a:r>
            <a:endParaRPr lang="en-US" sz="850" dirty="0"/>
          </a:p>
        </p:txBody>
      </p:sp>
      <p:sp>
        <p:nvSpPr>
          <p:cNvPr id="121" name="Text 60"/>
          <p:cNvSpPr/>
          <p:nvPr/>
        </p:nvSpPr>
        <p:spPr>
          <a:xfrm>
            <a:off x="5248656" y="41148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 pts</a:t>
            </a:r>
            <a:endParaRPr lang="en-US" sz="850" dirty="0"/>
          </a:p>
        </p:txBody>
      </p:sp>
      <p:sp>
        <p:nvSpPr>
          <p:cNvPr id="122" name="Text 61"/>
          <p:cNvSpPr/>
          <p:nvPr/>
        </p:nvSpPr>
        <p:spPr>
          <a:xfrm>
            <a:off x="3328416" y="43159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2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outlook (ICRA)</a:t>
            </a:r>
            <a:endParaRPr lang="en-US" sz="850" dirty="0"/>
          </a:p>
        </p:txBody>
      </p:sp>
      <p:sp>
        <p:nvSpPr>
          <p:cNvPr id="123" name="Text 62"/>
          <p:cNvSpPr/>
          <p:nvPr/>
        </p:nvSpPr>
        <p:spPr>
          <a:xfrm>
            <a:off x="5248656" y="431596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 pts</a:t>
            </a:r>
            <a:endParaRPr lang="en-US" sz="850" dirty="0"/>
          </a:p>
        </p:txBody>
      </p:sp>
      <p:sp>
        <p:nvSpPr>
          <p:cNvPr id="124" name="Shape 63"/>
          <p:cNvSpPr/>
          <p:nvPr/>
        </p:nvSpPr>
        <p:spPr>
          <a:xfrm>
            <a:off x="6016752" y="3145536"/>
            <a:ext cx="2834640" cy="1371600"/>
          </a:xfrm>
          <a:prstGeom prst="rect">
            <a:avLst/>
          </a:prstGeom>
          <a:solidFill>
            <a:srgbClr val="0D1117"/>
          </a:solidFill>
          <a:ln w="9525">
            <a:solidFill>
              <a:srgbClr val="F0A500"/>
            </a:solidFill>
            <a:prstDash val="solid"/>
          </a:ln>
          <a:effectLst>
            <a:outerShdw blurRad="127000" dist="38100" dir="81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25" name="Text 64"/>
          <p:cNvSpPr/>
          <p:nvPr/>
        </p:nvSpPr>
        <p:spPr>
          <a:xfrm>
            <a:off x="6108192" y="3218688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 smtClean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</a:t>
            </a:r>
            <a:r>
              <a:rPr lang="en-US" sz="10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</a:t>
            </a:r>
            <a:endParaRPr lang="en-US" sz="1000" dirty="0"/>
          </a:p>
        </p:txBody>
      </p:sp>
      <p:sp>
        <p:nvSpPr>
          <p:cNvPr id="126" name="Text 65"/>
          <p:cNvSpPr/>
          <p:nvPr/>
        </p:nvSpPr>
        <p:spPr>
          <a:xfrm>
            <a:off x="6108192" y="3511296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Quarterly stock audit (bank-appointed)</a:t>
            </a:r>
            <a:endParaRPr lang="en-US" sz="850" dirty="0"/>
          </a:p>
        </p:txBody>
      </p:sp>
      <p:sp>
        <p:nvSpPr>
          <p:cNvPr id="127" name="Text 66"/>
          <p:cNvSpPr/>
          <p:nvPr/>
        </p:nvSpPr>
        <p:spPr>
          <a:xfrm>
            <a:off x="6108192" y="3712464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Monthly GST reconciliation submission</a:t>
            </a:r>
            <a:endParaRPr lang="en-US" sz="850" dirty="0"/>
          </a:p>
        </p:txBody>
      </p:sp>
      <p:sp>
        <p:nvSpPr>
          <p:cNvPr id="128" name="Text 67"/>
          <p:cNvSpPr/>
          <p:nvPr/>
        </p:nvSpPr>
        <p:spPr>
          <a:xfrm>
            <a:off x="6108192" y="3913632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Promoter personal guarantee mandatory</a:t>
            </a:r>
            <a:endParaRPr lang="en-US" sz="850" dirty="0"/>
          </a:p>
        </p:txBody>
      </p:sp>
      <p:sp>
        <p:nvSpPr>
          <p:cNvPr id="129" name="Text 68"/>
          <p:cNvSpPr/>
          <p:nvPr/>
        </p:nvSpPr>
        <p:spPr>
          <a:xfrm>
            <a:off x="6108192" y="411480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No dividend without bank NOC</a:t>
            </a:r>
            <a:endParaRPr lang="en-US" sz="850" dirty="0"/>
          </a:p>
        </p:txBody>
      </p:sp>
      <p:sp>
        <p:nvSpPr>
          <p:cNvPr id="130" name="Text 69"/>
          <p:cNvSpPr/>
          <p:nvPr/>
        </p:nvSpPr>
        <p:spPr>
          <a:xfrm>
            <a:off x="6108192" y="4315968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Trigger review if DSCR &lt; 1.20x</a:t>
            </a:r>
            <a:endParaRPr lang="en-US" sz="8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34" name="Text 3"/>
          <p:cNvSpPr/>
          <p:nvPr/>
        </p:nvSpPr>
        <p:spPr>
          <a:xfrm>
            <a:off x="365760" y="1097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50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ARCHITECTURE</a:t>
            </a:r>
            <a:endParaRPr lang="en-US" sz="850" dirty="0"/>
          </a:p>
        </p:txBody>
      </p:sp>
      <p:sp>
        <p:nvSpPr>
          <p:cNvPr id="135" name="Text 4"/>
          <p:cNvSpPr/>
          <p:nvPr/>
        </p:nvSpPr>
        <p:spPr>
          <a:xfrm>
            <a:off x="365760" y="32004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E2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Technology Stack</a:t>
            </a:r>
            <a:endParaRPr lang="en-US" sz="2300" dirty="0"/>
          </a:p>
        </p:txBody>
      </p:sp>
      <p:sp>
        <p:nvSpPr>
          <p:cNvPr id="205" name="Shape 74"/>
          <p:cNvSpPr/>
          <p:nvPr/>
        </p:nvSpPr>
        <p:spPr>
          <a:xfrm>
            <a:off x="164592" y="4752819"/>
            <a:ext cx="8631936" cy="274320"/>
          </a:xfrm>
          <a:prstGeom prst="rect">
            <a:avLst/>
          </a:prstGeom>
          <a:solidFill>
            <a:srgbClr val="0D1117"/>
          </a:solidFill>
          <a:ln w="9525">
            <a:solidFill>
              <a:srgbClr val="1F2D3D"/>
            </a:solidFill>
            <a:prstDash val="solid"/>
          </a:ln>
          <a:effectLst>
            <a:outerShdw blurRad="127000" dist="38100" dir="81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06" name="Text 75"/>
          <p:cNvSpPr/>
          <p:nvPr/>
        </p:nvSpPr>
        <p:spPr>
          <a:xfrm>
            <a:off x="347472" y="4798539"/>
            <a:ext cx="8449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Tech:  React  ·  Claude API (Anthropic)  ·  FastAPI  ·  Databricks  ·  LangChain  ·  XGBoost  ·  SHAP  ·  Tavily  ·  FAISS  ·  python-docx</a:t>
            </a:r>
            <a:endParaRPr lang="en-US" sz="80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592" y="960119"/>
            <a:ext cx="8515769" cy="36762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15"/>
          <p:cNvSpPr/>
          <p:nvPr/>
        </p:nvSpPr>
        <p:spPr>
          <a:xfrm>
            <a:off x="3182110" y="3849366"/>
            <a:ext cx="2743200" cy="384048"/>
          </a:xfrm>
          <a:prstGeom prst="rect">
            <a:avLst/>
          </a:prstGeom>
          <a:solidFill>
            <a:srgbClr val="151A25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5" name="Shape 15"/>
          <p:cNvSpPr/>
          <p:nvPr/>
        </p:nvSpPr>
        <p:spPr>
          <a:xfrm>
            <a:off x="6089904" y="3849366"/>
            <a:ext cx="2743200" cy="384048"/>
          </a:xfrm>
          <a:prstGeom prst="rect">
            <a:avLst/>
          </a:prstGeom>
          <a:solidFill>
            <a:srgbClr val="151A25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3" name="Shape 15"/>
          <p:cNvSpPr/>
          <p:nvPr/>
        </p:nvSpPr>
        <p:spPr>
          <a:xfrm>
            <a:off x="297180" y="3840480"/>
            <a:ext cx="2743200" cy="384048"/>
          </a:xfrm>
          <a:prstGeom prst="rect">
            <a:avLst/>
          </a:prstGeom>
          <a:solidFill>
            <a:srgbClr val="151A25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64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D4AA"/>
                </a:solidFill>
              </a:rPr>
              <a:t>LIVE DEMO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ED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Prototype — Working End-to-End Demo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274320" y="3246120"/>
            <a:ext cx="2743200" cy="384048"/>
          </a:xfrm>
          <a:prstGeom prst="rect">
            <a:avLst/>
          </a:prstGeom>
          <a:solidFill>
            <a:srgbClr val="151A25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3246120"/>
            <a:ext cx="45720" cy="38404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30098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82F6"/>
                </a:solidFill>
              </a:rPr>
              <a:t>Step 1: Upload &amp; Extract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371246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99"/>
                </a:solidFill>
              </a:rPr>
              <a:t>Drop PDFs, GST files &amp; bank statements → AI extraction with GST reconciliation table showing circular trading flags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182112" y="3246120"/>
            <a:ext cx="2743200" cy="384048"/>
          </a:xfrm>
          <a:prstGeom prst="rect">
            <a:avLst/>
          </a:prstGeom>
          <a:solidFill>
            <a:srgbClr val="151A25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182112" y="3246120"/>
            <a:ext cx="45720" cy="384048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3552" y="330098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A"/>
                </a:solidFill>
              </a:rPr>
              <a:t>Step 2: Research Agent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227832" y="371246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99"/>
                </a:solidFill>
              </a:rPr>
              <a:t>Watch agent crawl eCourts, MCA, news in real-time → Findings ranked by risk relevance with source attribution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089904" y="3246120"/>
            <a:ext cx="2743200" cy="384048"/>
          </a:xfrm>
          <a:prstGeom prst="rect">
            <a:avLst/>
          </a:prstGeom>
          <a:solidFill>
            <a:srgbClr val="151A25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6089904" y="3246120"/>
            <a:ext cx="45720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181344" y="330098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</a:rPr>
              <a:t>Step 3: CAM &amp; Decision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135624" y="371246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99"/>
                </a:solidFill>
              </a:rPr>
              <a:t>Five Cs scoring cards + SHAP explainability + full Credit Appraisal Memo downloadable as PDF/DOCX</a:t>
            </a:r>
            <a:endParaRPr lang="en-US" sz="85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024" r="14000" b="5790"/>
          <a:stretch/>
        </p:blipFill>
        <p:spPr bwMode="auto">
          <a:xfrm>
            <a:off x="274320" y="1143000"/>
            <a:ext cx="2743200" cy="20116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782" r="14122" b="4750"/>
          <a:stretch/>
        </p:blipFill>
        <p:spPr bwMode="auto">
          <a:xfrm>
            <a:off x="3182110" y="1151114"/>
            <a:ext cx="2743201" cy="20116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875" r="14362" b="5250"/>
          <a:stretch/>
        </p:blipFill>
        <p:spPr bwMode="auto">
          <a:xfrm>
            <a:off x="6089905" y="1151114"/>
            <a:ext cx="2743200" cy="20116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52" name="Text 3"/>
          <p:cNvSpPr/>
          <p:nvPr/>
        </p:nvSpPr>
        <p:spPr>
          <a:xfrm>
            <a:off x="365760" y="1097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50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 &amp; FUNCTIONALITY</a:t>
            </a:r>
            <a:endParaRPr lang="en-US" sz="850" dirty="0"/>
          </a:p>
        </p:txBody>
      </p:sp>
      <p:sp>
        <p:nvSpPr>
          <p:cNvPr id="53" name="Text 4"/>
          <p:cNvSpPr/>
          <p:nvPr/>
        </p:nvSpPr>
        <p:spPr>
          <a:xfrm>
            <a:off x="365760" y="32004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E2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Prototype Can Do — Right Now</a:t>
            </a:r>
            <a:endParaRPr lang="en-US" sz="2300" dirty="0"/>
          </a:p>
        </p:txBody>
      </p:sp>
      <p:sp>
        <p:nvSpPr>
          <p:cNvPr id="54" name="Shape 5"/>
          <p:cNvSpPr/>
          <p:nvPr/>
        </p:nvSpPr>
        <p:spPr>
          <a:xfrm>
            <a:off x="292608" y="1133856"/>
            <a:ext cx="4279392" cy="1005840"/>
          </a:xfrm>
          <a:prstGeom prst="rect">
            <a:avLst/>
          </a:prstGeom>
          <a:solidFill>
            <a:srgbClr val="111827"/>
          </a:solidFill>
          <a:ln w="9525">
            <a:solidFill>
              <a:srgbClr val="1F2D3D"/>
            </a:solidFill>
            <a:prstDash val="solid"/>
          </a:ln>
          <a:effectLst>
            <a:outerShdw blurRad="127000" dist="38100" dir="81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5" name="Shape 6"/>
          <p:cNvSpPr/>
          <p:nvPr/>
        </p:nvSpPr>
        <p:spPr>
          <a:xfrm>
            <a:off x="292608" y="1133856"/>
            <a:ext cx="50292" cy="1005840"/>
          </a:xfrm>
          <a:prstGeom prst="rect">
            <a:avLst/>
          </a:prstGeom>
          <a:solidFill>
            <a:srgbClr val="3D8EF0"/>
          </a:solidFill>
          <a:ln w="12700">
            <a:solidFill>
              <a:srgbClr val="3D8EF0"/>
            </a:solidFill>
            <a:prstDash val="solid"/>
          </a:ln>
        </p:spPr>
      </p:sp>
      <p:sp>
        <p:nvSpPr>
          <p:cNvPr id="56" name="Text 7"/>
          <p:cNvSpPr/>
          <p:nvPr/>
        </p:nvSpPr>
        <p:spPr>
          <a:xfrm>
            <a:off x="420624" y="12435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57" name="Text 8"/>
          <p:cNvSpPr/>
          <p:nvPr/>
        </p:nvSpPr>
        <p:spPr>
          <a:xfrm>
            <a:off x="896112" y="122529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Multi-Doc Ingestion</a:t>
            </a:r>
            <a:endParaRPr lang="en-US" sz="1300" dirty="0"/>
          </a:p>
        </p:txBody>
      </p:sp>
      <p:sp>
        <p:nvSpPr>
          <p:cNvPr id="58" name="Text 9"/>
          <p:cNvSpPr/>
          <p:nvPr/>
        </p:nvSpPr>
        <p:spPr>
          <a:xfrm>
            <a:off x="896112" y="1536192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PDFs, XLSX, scanned images. AI extracts structured fields from unstructured documents using LLM+OCR pipeline.</a:t>
            </a:r>
            <a:endParaRPr lang="en-US" sz="900" dirty="0"/>
          </a:p>
        </p:txBody>
      </p:sp>
      <p:sp>
        <p:nvSpPr>
          <p:cNvPr id="59" name="Shape 10"/>
          <p:cNvSpPr/>
          <p:nvPr/>
        </p:nvSpPr>
        <p:spPr>
          <a:xfrm>
            <a:off x="4718304" y="1133856"/>
            <a:ext cx="4279392" cy="1005840"/>
          </a:xfrm>
          <a:prstGeom prst="rect">
            <a:avLst/>
          </a:prstGeom>
          <a:solidFill>
            <a:srgbClr val="111827"/>
          </a:solidFill>
          <a:ln w="9525">
            <a:solidFill>
              <a:srgbClr val="1F2D3D"/>
            </a:solidFill>
            <a:prstDash val="solid"/>
          </a:ln>
          <a:effectLst>
            <a:outerShdw blurRad="127000" dist="38100" dir="8100000" algn="bl" rotWithShape="0">
              <a:srgbClr val="000000">
                <a:alpha val="28000"/>
              </a:srgbClr>
            </a:outerShdw>
          </a:effectLst>
        </p:spPr>
      </p:sp>
      <p:sp>
        <p:nvSpPr>
          <p:cNvPr id="60" name="Shape 11"/>
          <p:cNvSpPr/>
          <p:nvPr/>
        </p:nvSpPr>
        <p:spPr>
          <a:xfrm>
            <a:off x="4718304" y="1133856"/>
            <a:ext cx="50292" cy="100584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61" name="Text 12"/>
          <p:cNvSpPr/>
          <p:nvPr/>
        </p:nvSpPr>
        <p:spPr>
          <a:xfrm>
            <a:off x="4846320" y="12435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62" name="Text 13"/>
          <p:cNvSpPr/>
          <p:nvPr/>
        </p:nvSpPr>
        <p:spPr>
          <a:xfrm>
            <a:off x="5321808" y="122529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Cross-Validation</a:t>
            </a:r>
            <a:endParaRPr lang="en-US" sz="1300" dirty="0"/>
          </a:p>
        </p:txBody>
      </p:sp>
      <p:sp>
        <p:nvSpPr>
          <p:cNvPr id="63" name="Text 14"/>
          <p:cNvSpPr/>
          <p:nvPr/>
        </p:nvSpPr>
        <p:spPr>
          <a:xfrm>
            <a:off x="5321808" y="1536192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reconciles GSTR-3B vs GSTR-2A vs bank credits. Flags revenue inflation anomalies with exact % deviation.</a:t>
            </a:r>
            <a:endParaRPr lang="en-US" sz="900" dirty="0"/>
          </a:p>
        </p:txBody>
      </p:sp>
      <p:sp>
        <p:nvSpPr>
          <p:cNvPr id="64" name="Shape 15"/>
          <p:cNvSpPr/>
          <p:nvPr/>
        </p:nvSpPr>
        <p:spPr>
          <a:xfrm>
            <a:off x="292608" y="2249424"/>
            <a:ext cx="4279392" cy="1005840"/>
          </a:xfrm>
          <a:prstGeom prst="rect">
            <a:avLst/>
          </a:prstGeom>
          <a:solidFill>
            <a:srgbClr val="111827"/>
          </a:solidFill>
          <a:ln w="9525">
            <a:solidFill>
              <a:srgbClr val="1F2D3D"/>
            </a:solidFill>
            <a:prstDash val="solid"/>
          </a:ln>
          <a:effectLst>
            <a:outerShdw blurRad="127000" dist="38100" dir="8100000" algn="bl" rotWithShape="0">
              <a:srgbClr val="000000">
                <a:alpha val="28000"/>
              </a:srgbClr>
            </a:outerShdw>
          </a:effectLst>
        </p:spPr>
      </p:sp>
      <p:sp>
        <p:nvSpPr>
          <p:cNvPr id="65" name="Shape 16"/>
          <p:cNvSpPr/>
          <p:nvPr/>
        </p:nvSpPr>
        <p:spPr>
          <a:xfrm>
            <a:off x="292608" y="2249424"/>
            <a:ext cx="50292" cy="1005840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66" name="Text 17"/>
          <p:cNvSpPr/>
          <p:nvPr/>
        </p:nvSpPr>
        <p:spPr>
          <a:xfrm>
            <a:off x="420624" y="23591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67" name="Text 18"/>
          <p:cNvSpPr/>
          <p:nvPr/>
        </p:nvSpPr>
        <p:spPr>
          <a:xfrm>
            <a:off x="896112" y="234086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Research</a:t>
            </a:r>
            <a:endParaRPr lang="en-US" sz="1300" dirty="0"/>
          </a:p>
        </p:txBody>
      </p:sp>
      <p:sp>
        <p:nvSpPr>
          <p:cNvPr id="68" name="Text 19"/>
          <p:cNvSpPr/>
          <p:nvPr/>
        </p:nvSpPr>
        <p:spPr>
          <a:xfrm>
            <a:off x="896112" y="2651760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crawls 7 sources in &lt;90 seconds: eCourts, MCA21, SFIO, news, ICRA. All findings ranked by risk relevance.</a:t>
            </a:r>
            <a:endParaRPr lang="en-US" sz="900" dirty="0"/>
          </a:p>
        </p:txBody>
      </p:sp>
      <p:sp>
        <p:nvSpPr>
          <p:cNvPr id="69" name="Shape 20"/>
          <p:cNvSpPr/>
          <p:nvPr/>
        </p:nvSpPr>
        <p:spPr>
          <a:xfrm>
            <a:off x="4718304" y="2249424"/>
            <a:ext cx="4279392" cy="1005840"/>
          </a:xfrm>
          <a:prstGeom prst="rect">
            <a:avLst/>
          </a:prstGeom>
          <a:solidFill>
            <a:srgbClr val="111827"/>
          </a:solidFill>
          <a:ln w="9525">
            <a:solidFill>
              <a:srgbClr val="1F2D3D"/>
            </a:solidFill>
            <a:prstDash val="solid"/>
          </a:ln>
          <a:effectLst>
            <a:outerShdw blurRad="127000" dist="38100" dir="8100000" algn="bl" rotWithShape="0">
              <a:srgbClr val="000000">
                <a:alpha val="28000"/>
              </a:srgbClr>
            </a:outerShdw>
          </a:effectLst>
        </p:spPr>
      </p:sp>
      <p:sp>
        <p:nvSpPr>
          <p:cNvPr id="70" name="Shape 21"/>
          <p:cNvSpPr/>
          <p:nvPr/>
        </p:nvSpPr>
        <p:spPr>
          <a:xfrm>
            <a:off x="4718304" y="2249424"/>
            <a:ext cx="50292" cy="1005840"/>
          </a:xfrm>
          <a:prstGeom prst="rect">
            <a:avLst/>
          </a:prstGeom>
          <a:solidFill>
            <a:srgbClr val="E8455A"/>
          </a:solidFill>
          <a:ln w="12700">
            <a:solidFill>
              <a:srgbClr val="E8455A"/>
            </a:solidFill>
            <a:prstDash val="solid"/>
          </a:ln>
        </p:spPr>
      </p:sp>
      <p:sp>
        <p:nvSpPr>
          <p:cNvPr id="71" name="Text 22"/>
          <p:cNvSpPr/>
          <p:nvPr/>
        </p:nvSpPr>
        <p:spPr>
          <a:xfrm>
            <a:off x="4846320" y="23591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72" name="Text 23"/>
          <p:cNvSpPr/>
          <p:nvPr/>
        </p:nvSpPr>
        <p:spPr>
          <a:xfrm>
            <a:off x="5321808" y="234086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Qualitative Adjustment</a:t>
            </a:r>
            <a:endParaRPr lang="en-US" sz="1300" dirty="0"/>
          </a:p>
        </p:txBody>
      </p:sp>
      <p:sp>
        <p:nvSpPr>
          <p:cNvPr id="73" name="Text 24"/>
          <p:cNvSpPr/>
          <p:nvPr/>
        </p:nvSpPr>
        <p:spPr>
          <a:xfrm>
            <a:off x="5321808" y="2651760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officers input site-visit notes. NLP parses sentiment and re-calibrates the risk score in real-time with full transparency.</a:t>
            </a:r>
            <a:endParaRPr lang="en-US" sz="900" dirty="0"/>
          </a:p>
        </p:txBody>
      </p:sp>
      <p:sp>
        <p:nvSpPr>
          <p:cNvPr id="74" name="Shape 25"/>
          <p:cNvSpPr/>
          <p:nvPr/>
        </p:nvSpPr>
        <p:spPr>
          <a:xfrm>
            <a:off x="292608" y="3364992"/>
            <a:ext cx="4279392" cy="1005840"/>
          </a:xfrm>
          <a:prstGeom prst="rect">
            <a:avLst/>
          </a:prstGeom>
          <a:solidFill>
            <a:srgbClr val="111827"/>
          </a:solidFill>
          <a:ln w="9525">
            <a:solidFill>
              <a:srgbClr val="1F2D3D"/>
            </a:solidFill>
            <a:prstDash val="solid"/>
          </a:ln>
          <a:effectLst>
            <a:outerShdw blurRad="127000" dist="38100" dir="8100000" algn="bl" rotWithShape="0">
              <a:srgbClr val="000000">
                <a:alpha val="28000"/>
              </a:srgbClr>
            </a:outerShdw>
          </a:effectLst>
        </p:spPr>
      </p:sp>
      <p:sp>
        <p:nvSpPr>
          <p:cNvPr id="75" name="Shape 26"/>
          <p:cNvSpPr/>
          <p:nvPr/>
        </p:nvSpPr>
        <p:spPr>
          <a:xfrm>
            <a:off x="292608" y="3364992"/>
            <a:ext cx="50292" cy="1005840"/>
          </a:xfrm>
          <a:prstGeom prst="rect">
            <a:avLst/>
          </a:prstGeom>
          <a:solidFill>
            <a:srgbClr val="3D8EF0"/>
          </a:solidFill>
          <a:ln w="12700">
            <a:solidFill>
              <a:srgbClr val="3D8EF0"/>
            </a:solidFill>
            <a:prstDash val="solid"/>
          </a:ln>
        </p:spPr>
      </p:sp>
      <p:sp>
        <p:nvSpPr>
          <p:cNvPr id="76" name="Text 27"/>
          <p:cNvSpPr/>
          <p:nvPr/>
        </p:nvSpPr>
        <p:spPr>
          <a:xfrm>
            <a:off x="420624" y="3474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77" name="Text 28"/>
          <p:cNvSpPr/>
          <p:nvPr/>
        </p:nvSpPr>
        <p:spPr>
          <a:xfrm>
            <a:off x="896112" y="345643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Decisions</a:t>
            </a:r>
            <a:endParaRPr lang="en-US" sz="1300" dirty="0"/>
          </a:p>
        </p:txBody>
      </p:sp>
      <p:sp>
        <p:nvSpPr>
          <p:cNvPr id="78" name="Text 29"/>
          <p:cNvSpPr/>
          <p:nvPr/>
        </p:nvSpPr>
        <p:spPr>
          <a:xfrm>
            <a:off x="896112" y="3767328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SHAP-based factor attribution for every decision. No black box — each point added/deducted is shown with source and reason.</a:t>
            </a:r>
            <a:endParaRPr lang="en-US" sz="900" dirty="0"/>
          </a:p>
        </p:txBody>
      </p:sp>
      <p:sp>
        <p:nvSpPr>
          <p:cNvPr id="79" name="Shape 30"/>
          <p:cNvSpPr/>
          <p:nvPr/>
        </p:nvSpPr>
        <p:spPr>
          <a:xfrm>
            <a:off x="4718304" y="3364992"/>
            <a:ext cx="4279392" cy="1005840"/>
          </a:xfrm>
          <a:prstGeom prst="rect">
            <a:avLst/>
          </a:prstGeom>
          <a:solidFill>
            <a:srgbClr val="111827"/>
          </a:solidFill>
          <a:ln w="9525">
            <a:solidFill>
              <a:srgbClr val="1F2D3D"/>
            </a:solidFill>
            <a:prstDash val="solid"/>
          </a:ln>
          <a:effectLst>
            <a:outerShdw blurRad="127000" dist="38100" dir="8100000" algn="bl" rotWithShape="0">
              <a:srgbClr val="000000">
                <a:alpha val="28000"/>
              </a:srgbClr>
            </a:outerShdw>
          </a:effectLst>
        </p:spPr>
      </p:sp>
      <p:sp>
        <p:nvSpPr>
          <p:cNvPr id="80" name="Shape 31"/>
          <p:cNvSpPr/>
          <p:nvPr/>
        </p:nvSpPr>
        <p:spPr>
          <a:xfrm>
            <a:off x="4718304" y="3364992"/>
            <a:ext cx="50292" cy="100584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81" name="Text 32"/>
          <p:cNvSpPr/>
          <p:nvPr/>
        </p:nvSpPr>
        <p:spPr>
          <a:xfrm>
            <a:off x="4846320" y="3474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82" name="Text 33"/>
          <p:cNvSpPr/>
          <p:nvPr/>
        </p:nvSpPr>
        <p:spPr>
          <a:xfrm>
            <a:off x="5321808" y="345643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CAM Output</a:t>
            </a:r>
            <a:endParaRPr lang="en-US" sz="1300" dirty="0"/>
          </a:p>
        </p:txBody>
      </p:sp>
      <p:sp>
        <p:nvSpPr>
          <p:cNvPr id="83" name="Text 34"/>
          <p:cNvSpPr/>
          <p:nvPr/>
        </p:nvSpPr>
        <p:spPr>
          <a:xfrm>
            <a:off x="5321808" y="3767328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AI generates a bank-grade Credit Appraisal Memo covering Five Cs. Downloadable as PDF or DOCX in seconds.</a:t>
            </a:r>
            <a:endParaRPr lang="en-US" sz="900" dirty="0"/>
          </a:p>
        </p:txBody>
      </p:sp>
      <p:pic>
        <p:nvPicPr>
          <p:cNvPr id="6146" name="Picture 2" descr="Open folder 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912" y="1280160"/>
            <a:ext cx="365760" cy="365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Robot 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159" y="2569464"/>
            <a:ext cx="365760" cy="365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4" name="Picture 6" descr="Brainstorm 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912" y="3511296"/>
            <a:ext cx="365760" cy="365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 descr="Paper pin 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8993" y="1280160"/>
            <a:ext cx="365760" cy="365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2" name="Picture 8" descr="Chat box 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5410" y="2569464"/>
            <a:ext cx="365760" cy="365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7" name="Picture 4" descr="Documents 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82896" y="3493008"/>
            <a:ext cx="365760" cy="365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465943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64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D4AA"/>
                </a:solidFill>
              </a:rPr>
              <a:t>DIFFERENTIATORS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8ED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IntelliCredit Wins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320040" y="1170432"/>
            <a:ext cx="4187952" cy="1097280"/>
          </a:xfrm>
          <a:prstGeom prst="rect">
            <a:avLst/>
          </a:prstGeom>
          <a:solidFill>
            <a:srgbClr val="151A25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" y="1170432"/>
            <a:ext cx="45720" cy="109728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9768" y="1243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05840" y="1261872"/>
            <a:ext cx="3401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D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India-First Design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1581912"/>
            <a:ext cx="34015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99"/>
                </a:solidFill>
              </a:rPr>
              <a:t>Built specifically for GSTR-2A vs 3B, CIBIL Commercial, DRT recovery, MCA21, and RBI regulatory parsing — not a generic global tool.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709160" y="1170432"/>
            <a:ext cx="4187952" cy="1097280"/>
          </a:xfrm>
          <a:prstGeom prst="rect">
            <a:avLst/>
          </a:prstGeom>
          <a:solidFill>
            <a:srgbClr val="151A25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1170432"/>
            <a:ext cx="45720" cy="10972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18888" y="1243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394960" y="1261872"/>
            <a:ext cx="3401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D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Explainable AI, Not a Black Box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394960" y="1581912"/>
            <a:ext cx="34015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99"/>
                </a:solidFill>
              </a:rPr>
              <a:t>Every decision comes with SHAP-based factor attribution. Judges, regulators and borrowers can see exactly why a limit was set.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20040" y="2404872"/>
            <a:ext cx="4187952" cy="1097280"/>
          </a:xfrm>
          <a:prstGeom prst="rect">
            <a:avLst/>
          </a:prstGeom>
          <a:solidFill>
            <a:srgbClr val="151A25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404872"/>
            <a:ext cx="45720" cy="10972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9768" y="24780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005840" y="2496312"/>
            <a:ext cx="3401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D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End-to-End in One Platform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05840" y="2816352"/>
            <a:ext cx="34015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99"/>
                </a:solidFill>
              </a:rPr>
              <a:t>From raw scanned PDFs to a signed-off Credit Appraisal Memo — no human hand-offs, no spreadsheet exports, no tool-switching.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709160" y="2404872"/>
            <a:ext cx="4187952" cy="1097280"/>
          </a:xfrm>
          <a:prstGeom prst="rect">
            <a:avLst/>
          </a:prstGeom>
          <a:solidFill>
            <a:srgbClr val="151A25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09160" y="2404872"/>
            <a:ext cx="45720" cy="109728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18888" y="24780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5394960" y="2496312"/>
            <a:ext cx="3401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D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Multi-Source Synthesis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394960" y="2816352"/>
            <a:ext cx="34015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99"/>
                </a:solidFill>
              </a:rPr>
              <a:t>Uniquely cross-links GST data with bank flows, corroborates with eCourts and MCA filings, and validates against live news — all automatically.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20040" y="3639312"/>
            <a:ext cx="4187952" cy="1097280"/>
          </a:xfrm>
          <a:prstGeom prst="rect">
            <a:avLst/>
          </a:prstGeom>
          <a:solidFill>
            <a:srgbClr val="151A25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20040" y="3639312"/>
            <a:ext cx="45720" cy="10972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9768" y="37124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1005840" y="3730752"/>
            <a:ext cx="3401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D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Human-in-the-Loop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05840" y="4050792"/>
            <a:ext cx="34015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99"/>
                </a:solidFill>
              </a:rPr>
              <a:t>Credit officers can inject qualitative site-visit notes at any point. The AI recalibrates the risk score transparently around human insight.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709160" y="3639312"/>
            <a:ext cx="4187952" cy="1097280"/>
          </a:xfrm>
          <a:prstGeom prst="rect">
            <a:avLst/>
          </a:prstGeom>
          <a:solidFill>
            <a:srgbClr val="151A25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709160" y="3639312"/>
            <a:ext cx="45720" cy="10972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18888" y="37124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5394960" y="3730752"/>
            <a:ext cx="3401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D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CAM-Ready Output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394960" y="4050792"/>
            <a:ext cx="34015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99"/>
                </a:solidFill>
              </a:rPr>
              <a:t>Generates a bank-grade Credit Appraisal Memo (Word/PDF) meeting RBI guidelines — ready to submit to credit committee on Day 1.</a:t>
            </a:r>
            <a:endParaRPr lang="en-US" sz="850" dirty="0"/>
          </a:p>
        </p:txBody>
      </p:sp>
      <p:pic>
        <p:nvPicPr>
          <p:cNvPr id="7170" name="Picture 2" descr="India 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348" y="1554480"/>
            <a:ext cx="365760" cy="365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Light 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348" y="2615184"/>
            <a:ext cx="365760" cy="365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4" name="Picture 6" descr="Planet earth 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348" y="3867912"/>
            <a:ext cx="365760" cy="365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6" descr="Brainstorm 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87468" y="1554480"/>
            <a:ext cx="365760" cy="365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" name="Picture 6" descr="Paper pin 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87468" y="2546604"/>
            <a:ext cx="365760" cy="365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4" descr="Documents 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82896" y="3867431"/>
            <a:ext cx="365760" cy="365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7" name="Text 3"/>
          <p:cNvSpPr/>
          <p:nvPr/>
        </p:nvSpPr>
        <p:spPr>
          <a:xfrm>
            <a:off x="365760" y="1097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50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APPLICATIONS &amp; SCALABILITY</a:t>
            </a:r>
            <a:endParaRPr lang="en-US" sz="850" dirty="0"/>
          </a:p>
        </p:txBody>
      </p:sp>
      <p:sp>
        <p:nvSpPr>
          <p:cNvPr id="38" name="Text 4"/>
          <p:cNvSpPr/>
          <p:nvPr/>
        </p:nvSpPr>
        <p:spPr>
          <a:xfrm>
            <a:off x="365760" y="32004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E2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 &amp; Deployment Path</a:t>
            </a:r>
            <a:endParaRPr lang="en-US" sz="2300" dirty="0"/>
          </a:p>
        </p:txBody>
      </p:sp>
      <p:sp>
        <p:nvSpPr>
          <p:cNvPr id="39" name="Shape 5"/>
          <p:cNvSpPr/>
          <p:nvPr/>
        </p:nvSpPr>
        <p:spPr>
          <a:xfrm>
            <a:off x="292608" y="1078992"/>
            <a:ext cx="2084832" cy="914400"/>
          </a:xfrm>
          <a:prstGeom prst="rect">
            <a:avLst/>
          </a:prstGeom>
          <a:solidFill>
            <a:srgbClr val="111827"/>
          </a:solidFill>
          <a:ln w="9525">
            <a:solidFill>
              <a:srgbClr val="1F2D3D"/>
            </a:solidFill>
            <a:prstDash val="solid"/>
          </a:ln>
          <a:effectLst>
            <a:outerShdw blurRad="127000" dist="38100" dir="8100000" algn="bl" rotWithShape="0">
              <a:srgbClr val="000000">
                <a:alpha val="28000"/>
              </a:srgbClr>
            </a:outerShdw>
          </a:effectLst>
        </p:spPr>
      </p:sp>
      <p:sp>
        <p:nvSpPr>
          <p:cNvPr id="40" name="Shape 6"/>
          <p:cNvSpPr/>
          <p:nvPr/>
        </p:nvSpPr>
        <p:spPr>
          <a:xfrm>
            <a:off x="292608" y="1078992"/>
            <a:ext cx="50292" cy="91440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41" name="Text 7"/>
          <p:cNvSpPr/>
          <p:nvPr/>
        </p:nvSpPr>
        <p:spPr>
          <a:xfrm>
            <a:off x="292608" y="1133856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₹18.2L Cr</a:t>
            </a:r>
            <a:endParaRPr lang="en-US" sz="2200" dirty="0"/>
          </a:p>
        </p:txBody>
      </p:sp>
      <p:sp>
        <p:nvSpPr>
          <p:cNvPr id="42" name="Text 8"/>
          <p:cNvSpPr/>
          <p:nvPr/>
        </p:nvSpPr>
        <p:spPr>
          <a:xfrm>
            <a:off x="329184" y="159105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corporate loan book (FY24)</a:t>
            </a:r>
            <a:endParaRPr lang="en-US" sz="850" dirty="0"/>
          </a:p>
        </p:txBody>
      </p:sp>
      <p:sp>
        <p:nvSpPr>
          <p:cNvPr id="43" name="Shape 9"/>
          <p:cNvSpPr/>
          <p:nvPr/>
        </p:nvSpPr>
        <p:spPr>
          <a:xfrm>
            <a:off x="2505456" y="1078992"/>
            <a:ext cx="2084832" cy="914400"/>
          </a:xfrm>
          <a:prstGeom prst="rect">
            <a:avLst/>
          </a:prstGeom>
          <a:solidFill>
            <a:srgbClr val="111827"/>
          </a:solidFill>
          <a:ln w="9525">
            <a:solidFill>
              <a:srgbClr val="1F2D3D"/>
            </a:solidFill>
            <a:prstDash val="solid"/>
          </a:ln>
          <a:effectLst>
            <a:outerShdw blurRad="127000" dist="38100" dir="8100000" algn="bl" rotWithShape="0">
              <a:srgbClr val="000000">
                <a:alpha val="28000"/>
              </a:srgbClr>
            </a:outerShdw>
          </a:effectLst>
        </p:spPr>
      </p:sp>
      <p:sp>
        <p:nvSpPr>
          <p:cNvPr id="44" name="Shape 10"/>
          <p:cNvSpPr/>
          <p:nvPr/>
        </p:nvSpPr>
        <p:spPr>
          <a:xfrm>
            <a:off x="2505456" y="1078992"/>
            <a:ext cx="50292" cy="914400"/>
          </a:xfrm>
          <a:prstGeom prst="rect">
            <a:avLst/>
          </a:prstGeom>
          <a:solidFill>
            <a:srgbClr val="E8455A"/>
          </a:solidFill>
          <a:ln w="12700">
            <a:solidFill>
              <a:srgbClr val="E8455A"/>
            </a:solidFill>
            <a:prstDash val="solid"/>
          </a:ln>
        </p:spPr>
      </p:sp>
      <p:sp>
        <p:nvSpPr>
          <p:cNvPr id="45" name="Text 11"/>
          <p:cNvSpPr/>
          <p:nvPr/>
        </p:nvSpPr>
        <p:spPr>
          <a:xfrm>
            <a:off x="2505456" y="1133856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4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3–6 wks</a:t>
            </a:r>
            <a:endParaRPr lang="en-US" sz="2200" dirty="0"/>
          </a:p>
        </p:txBody>
      </p:sp>
      <p:sp>
        <p:nvSpPr>
          <p:cNvPr id="46" name="Text 12"/>
          <p:cNvSpPr/>
          <p:nvPr/>
        </p:nvSpPr>
        <p:spPr>
          <a:xfrm>
            <a:off x="2542032" y="159105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average appraisal time</a:t>
            </a:r>
            <a:endParaRPr lang="en-US" sz="850" dirty="0"/>
          </a:p>
        </p:txBody>
      </p:sp>
      <p:sp>
        <p:nvSpPr>
          <p:cNvPr id="47" name="Shape 13"/>
          <p:cNvSpPr/>
          <p:nvPr/>
        </p:nvSpPr>
        <p:spPr>
          <a:xfrm>
            <a:off x="4718304" y="1078992"/>
            <a:ext cx="2084832" cy="914400"/>
          </a:xfrm>
          <a:prstGeom prst="rect">
            <a:avLst/>
          </a:prstGeom>
          <a:solidFill>
            <a:srgbClr val="111827"/>
          </a:solidFill>
          <a:ln w="9525">
            <a:solidFill>
              <a:srgbClr val="1F2D3D"/>
            </a:solidFill>
            <a:prstDash val="solid"/>
          </a:ln>
          <a:effectLst>
            <a:outerShdw blurRad="127000" dist="38100" dir="8100000" algn="bl" rotWithShape="0">
              <a:srgbClr val="000000">
                <a:alpha val="28000"/>
              </a:srgbClr>
            </a:outerShdw>
          </a:effectLst>
        </p:spPr>
      </p:sp>
      <p:sp>
        <p:nvSpPr>
          <p:cNvPr id="48" name="Shape 14"/>
          <p:cNvSpPr/>
          <p:nvPr/>
        </p:nvSpPr>
        <p:spPr>
          <a:xfrm>
            <a:off x="4718304" y="1078992"/>
            <a:ext cx="50292" cy="91440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49" name="Text 15"/>
          <p:cNvSpPr/>
          <p:nvPr/>
        </p:nvSpPr>
        <p:spPr>
          <a:xfrm>
            <a:off x="4718304" y="1133856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 min</a:t>
            </a:r>
            <a:endParaRPr lang="en-US" sz="2200" dirty="0"/>
          </a:p>
        </p:txBody>
      </p:sp>
      <p:sp>
        <p:nvSpPr>
          <p:cNvPr id="50" name="Text 16"/>
          <p:cNvSpPr/>
          <p:nvPr/>
        </p:nvSpPr>
        <p:spPr>
          <a:xfrm>
            <a:off x="4754880" y="159105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IntelliCredit end-to-end time</a:t>
            </a:r>
            <a:endParaRPr lang="en-US" sz="850" dirty="0"/>
          </a:p>
        </p:txBody>
      </p:sp>
      <p:sp>
        <p:nvSpPr>
          <p:cNvPr id="51" name="Shape 17"/>
          <p:cNvSpPr/>
          <p:nvPr/>
        </p:nvSpPr>
        <p:spPr>
          <a:xfrm>
            <a:off x="6931152" y="1078992"/>
            <a:ext cx="2084832" cy="914400"/>
          </a:xfrm>
          <a:prstGeom prst="rect">
            <a:avLst/>
          </a:prstGeom>
          <a:solidFill>
            <a:srgbClr val="111827"/>
          </a:solidFill>
          <a:ln w="9525">
            <a:solidFill>
              <a:srgbClr val="1F2D3D"/>
            </a:solidFill>
            <a:prstDash val="solid"/>
          </a:ln>
          <a:effectLst>
            <a:outerShdw blurRad="127000" dist="38100" dir="81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2" name="Shape 18"/>
          <p:cNvSpPr/>
          <p:nvPr/>
        </p:nvSpPr>
        <p:spPr>
          <a:xfrm>
            <a:off x="6931152" y="1078992"/>
            <a:ext cx="50292" cy="914400"/>
          </a:xfrm>
          <a:prstGeom prst="rect">
            <a:avLst/>
          </a:prstGeom>
          <a:solidFill>
            <a:srgbClr val="3D8EF0"/>
          </a:solidFill>
          <a:ln w="12700">
            <a:solidFill>
              <a:srgbClr val="3D8EF0"/>
            </a:solidFill>
            <a:prstDash val="solid"/>
          </a:ln>
        </p:spPr>
      </p:sp>
      <p:sp>
        <p:nvSpPr>
          <p:cNvPr id="53" name="Text 19"/>
          <p:cNvSpPr/>
          <p:nvPr/>
        </p:nvSpPr>
        <p:spPr>
          <a:xfrm>
            <a:off x="6931152" y="1133856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D8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₹850 Cr+</a:t>
            </a:r>
            <a:endParaRPr lang="en-US" sz="2200" dirty="0"/>
          </a:p>
        </p:txBody>
      </p:sp>
      <p:sp>
        <p:nvSpPr>
          <p:cNvPr id="54" name="Text 20"/>
          <p:cNvSpPr/>
          <p:nvPr/>
        </p:nvSpPr>
        <p:spPr>
          <a:xfrm>
            <a:off x="6967728" y="159105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cost savings potential (est.)</a:t>
            </a:r>
            <a:endParaRPr lang="en-US" sz="850" dirty="0"/>
          </a:p>
        </p:txBody>
      </p:sp>
      <p:sp>
        <p:nvSpPr>
          <p:cNvPr id="55" name="Shape 21"/>
          <p:cNvSpPr/>
          <p:nvPr/>
        </p:nvSpPr>
        <p:spPr>
          <a:xfrm>
            <a:off x="292608" y="2121408"/>
            <a:ext cx="2834640" cy="2340864"/>
          </a:xfrm>
          <a:prstGeom prst="rect">
            <a:avLst/>
          </a:prstGeom>
          <a:solidFill>
            <a:srgbClr val="111827"/>
          </a:solidFill>
          <a:ln w="9525">
            <a:solidFill>
              <a:srgbClr val="1F2D3D"/>
            </a:solidFill>
            <a:prstDash val="solid"/>
          </a:ln>
          <a:effectLst>
            <a:outerShdw blurRad="127000" dist="38100" dir="81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6" name="Shape 22"/>
          <p:cNvSpPr/>
          <p:nvPr/>
        </p:nvSpPr>
        <p:spPr>
          <a:xfrm>
            <a:off x="292608" y="2121408"/>
            <a:ext cx="50292" cy="2340864"/>
          </a:xfrm>
          <a:prstGeom prst="rect">
            <a:avLst/>
          </a:prstGeom>
          <a:solidFill>
            <a:srgbClr val="3D8EF0"/>
          </a:solidFill>
          <a:ln w="12700">
            <a:solidFill>
              <a:srgbClr val="3D8EF0"/>
            </a:solidFill>
            <a:prstDash val="solid"/>
          </a:ln>
        </p:spPr>
      </p:sp>
      <p:sp>
        <p:nvSpPr>
          <p:cNvPr id="57" name="Text 23"/>
          <p:cNvSpPr/>
          <p:nvPr/>
        </p:nvSpPr>
        <p:spPr>
          <a:xfrm>
            <a:off x="420624" y="2194560"/>
            <a:ext cx="2615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smtClean="0">
                <a:solidFill>
                  <a:srgbClr val="E2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</a:t>
            </a:r>
            <a:r>
              <a:rPr lang="en-US" sz="1200" b="1" dirty="0">
                <a:solidFill>
                  <a:srgbClr val="E2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Use It</a:t>
            </a:r>
            <a:endParaRPr lang="en-US" sz="1200" dirty="0"/>
          </a:p>
        </p:txBody>
      </p:sp>
      <p:sp>
        <p:nvSpPr>
          <p:cNvPr id="58" name="Text 24"/>
          <p:cNvSpPr/>
          <p:nvPr/>
        </p:nvSpPr>
        <p:spPr>
          <a:xfrm>
            <a:off x="420624" y="2578608"/>
            <a:ext cx="2615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Public sector banks</a:t>
            </a:r>
            <a:endParaRPr lang="en-US" sz="950" dirty="0"/>
          </a:p>
        </p:txBody>
      </p:sp>
      <p:sp>
        <p:nvSpPr>
          <p:cNvPr id="59" name="Text 25"/>
          <p:cNvSpPr/>
          <p:nvPr/>
        </p:nvSpPr>
        <p:spPr>
          <a:xfrm>
            <a:off x="420624" y="2926080"/>
            <a:ext cx="2615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Private sector banks</a:t>
            </a:r>
            <a:endParaRPr lang="en-US" sz="950" dirty="0"/>
          </a:p>
        </p:txBody>
      </p:sp>
      <p:sp>
        <p:nvSpPr>
          <p:cNvPr id="60" name="Text 26"/>
          <p:cNvSpPr/>
          <p:nvPr/>
        </p:nvSpPr>
        <p:spPr>
          <a:xfrm>
            <a:off x="420624" y="3273552"/>
            <a:ext cx="2615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NBFCs &amp; HFCs</a:t>
            </a:r>
            <a:endParaRPr lang="en-US" sz="950" dirty="0"/>
          </a:p>
        </p:txBody>
      </p:sp>
      <p:sp>
        <p:nvSpPr>
          <p:cNvPr id="61" name="Text 27"/>
          <p:cNvSpPr/>
          <p:nvPr/>
        </p:nvSpPr>
        <p:spPr>
          <a:xfrm>
            <a:off x="420624" y="3621024"/>
            <a:ext cx="2615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Fintech lenders</a:t>
            </a:r>
            <a:endParaRPr lang="en-US" sz="950" dirty="0"/>
          </a:p>
        </p:txBody>
      </p:sp>
      <p:sp>
        <p:nvSpPr>
          <p:cNvPr id="62" name="Text 28"/>
          <p:cNvSpPr/>
          <p:nvPr/>
        </p:nvSpPr>
        <p:spPr>
          <a:xfrm>
            <a:off x="420624" y="3968496"/>
            <a:ext cx="2615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RBI supervisors</a:t>
            </a:r>
            <a:endParaRPr lang="en-US" sz="950" dirty="0"/>
          </a:p>
        </p:txBody>
      </p:sp>
      <p:sp>
        <p:nvSpPr>
          <p:cNvPr id="63" name="Shape 29"/>
          <p:cNvSpPr/>
          <p:nvPr/>
        </p:nvSpPr>
        <p:spPr>
          <a:xfrm>
            <a:off x="3273552" y="2121408"/>
            <a:ext cx="2834640" cy="2340864"/>
          </a:xfrm>
          <a:prstGeom prst="rect">
            <a:avLst/>
          </a:prstGeom>
          <a:solidFill>
            <a:srgbClr val="111827"/>
          </a:solidFill>
          <a:ln w="9525">
            <a:solidFill>
              <a:srgbClr val="1F2D3D"/>
            </a:solidFill>
            <a:prstDash val="solid"/>
          </a:ln>
          <a:effectLst>
            <a:outerShdw blurRad="127000" dist="38100" dir="8100000" algn="bl" rotWithShape="0">
              <a:srgbClr val="000000">
                <a:alpha val="28000"/>
              </a:srgbClr>
            </a:outerShdw>
          </a:effectLst>
        </p:spPr>
      </p:sp>
      <p:sp>
        <p:nvSpPr>
          <p:cNvPr id="64" name="Shape 30"/>
          <p:cNvSpPr/>
          <p:nvPr/>
        </p:nvSpPr>
        <p:spPr>
          <a:xfrm>
            <a:off x="3273552" y="2121408"/>
            <a:ext cx="50292" cy="2340864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65" name="Text 31"/>
          <p:cNvSpPr/>
          <p:nvPr/>
        </p:nvSpPr>
        <p:spPr>
          <a:xfrm>
            <a:off x="3401568" y="2194560"/>
            <a:ext cx="2615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smtClean="0">
                <a:solidFill>
                  <a:srgbClr val="E2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 </a:t>
            </a:r>
            <a:r>
              <a:rPr lang="en-US" sz="1200" b="1" dirty="0">
                <a:solidFill>
                  <a:srgbClr val="E2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200" dirty="0"/>
          </a:p>
        </p:txBody>
      </p:sp>
      <p:sp>
        <p:nvSpPr>
          <p:cNvPr id="66" name="Text 32"/>
          <p:cNvSpPr/>
          <p:nvPr/>
        </p:nvSpPr>
        <p:spPr>
          <a:xfrm>
            <a:off x="3401568" y="2578608"/>
            <a:ext cx="2615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Microservices architecture</a:t>
            </a:r>
            <a:endParaRPr lang="en-US" sz="950" dirty="0"/>
          </a:p>
        </p:txBody>
      </p:sp>
      <p:sp>
        <p:nvSpPr>
          <p:cNvPr id="67" name="Text 33"/>
          <p:cNvSpPr/>
          <p:nvPr/>
        </p:nvSpPr>
        <p:spPr>
          <a:xfrm>
            <a:off x="3401568" y="2926080"/>
            <a:ext cx="2615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Horizontal scaling on cloud</a:t>
            </a:r>
            <a:endParaRPr lang="en-US" sz="950" dirty="0"/>
          </a:p>
        </p:txBody>
      </p:sp>
      <p:sp>
        <p:nvSpPr>
          <p:cNvPr id="68" name="Text 34"/>
          <p:cNvSpPr/>
          <p:nvPr/>
        </p:nvSpPr>
        <p:spPr>
          <a:xfrm>
            <a:off x="3401568" y="3273552"/>
            <a:ext cx="2615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Multi-tenant SaaS model</a:t>
            </a:r>
            <a:endParaRPr lang="en-US" sz="950" dirty="0"/>
          </a:p>
        </p:txBody>
      </p:sp>
      <p:sp>
        <p:nvSpPr>
          <p:cNvPr id="69" name="Text 35"/>
          <p:cNvSpPr/>
          <p:nvPr/>
        </p:nvSpPr>
        <p:spPr>
          <a:xfrm>
            <a:off x="3401568" y="3621024"/>
            <a:ext cx="2615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API-first for CBS integration</a:t>
            </a:r>
            <a:endParaRPr lang="en-US" sz="950" dirty="0"/>
          </a:p>
        </p:txBody>
      </p:sp>
      <p:sp>
        <p:nvSpPr>
          <p:cNvPr id="70" name="Text 36"/>
          <p:cNvSpPr/>
          <p:nvPr/>
        </p:nvSpPr>
        <p:spPr>
          <a:xfrm>
            <a:off x="3401568" y="3968496"/>
            <a:ext cx="2615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Databricks for big data</a:t>
            </a:r>
            <a:endParaRPr lang="en-US" sz="950" dirty="0"/>
          </a:p>
        </p:txBody>
      </p:sp>
      <p:sp>
        <p:nvSpPr>
          <p:cNvPr id="71" name="Shape 37"/>
          <p:cNvSpPr/>
          <p:nvPr/>
        </p:nvSpPr>
        <p:spPr>
          <a:xfrm>
            <a:off x="6254496" y="2121408"/>
            <a:ext cx="2834640" cy="2340864"/>
          </a:xfrm>
          <a:prstGeom prst="rect">
            <a:avLst/>
          </a:prstGeom>
          <a:solidFill>
            <a:srgbClr val="111827"/>
          </a:solidFill>
          <a:ln w="9525">
            <a:solidFill>
              <a:srgbClr val="1F2D3D"/>
            </a:solidFill>
            <a:prstDash val="solid"/>
          </a:ln>
          <a:effectLst>
            <a:outerShdw blurRad="127000" dist="38100" dir="8100000" algn="bl" rotWithShape="0">
              <a:srgbClr val="000000">
                <a:alpha val="28000"/>
              </a:srgbClr>
            </a:outerShdw>
          </a:effectLst>
        </p:spPr>
      </p:sp>
      <p:sp>
        <p:nvSpPr>
          <p:cNvPr id="72" name="Shape 38"/>
          <p:cNvSpPr/>
          <p:nvPr/>
        </p:nvSpPr>
        <p:spPr>
          <a:xfrm>
            <a:off x="6254496" y="2121408"/>
            <a:ext cx="50292" cy="2340864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73" name="Text 39"/>
          <p:cNvSpPr/>
          <p:nvPr/>
        </p:nvSpPr>
        <p:spPr>
          <a:xfrm>
            <a:off x="6382512" y="2194560"/>
            <a:ext cx="2615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smtClean="0">
                <a:solidFill>
                  <a:srgbClr val="E2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</a:t>
            </a:r>
            <a:r>
              <a:rPr lang="en-US" sz="1200" b="1" dirty="0">
                <a:solidFill>
                  <a:srgbClr val="E2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200" dirty="0"/>
          </a:p>
        </p:txBody>
      </p:sp>
      <p:sp>
        <p:nvSpPr>
          <p:cNvPr id="74" name="Text 40"/>
          <p:cNvSpPr/>
          <p:nvPr/>
        </p:nvSpPr>
        <p:spPr>
          <a:xfrm>
            <a:off x="6382512" y="2578608"/>
            <a:ext cx="2615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RBI data localisation ready</a:t>
            </a:r>
            <a:endParaRPr lang="en-US" sz="950" dirty="0"/>
          </a:p>
        </p:txBody>
      </p:sp>
      <p:sp>
        <p:nvSpPr>
          <p:cNvPr id="75" name="Text 41"/>
          <p:cNvSpPr/>
          <p:nvPr/>
        </p:nvSpPr>
        <p:spPr>
          <a:xfrm>
            <a:off x="6382512" y="2926080"/>
            <a:ext cx="2615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Compliant with DPDP Act 2023</a:t>
            </a:r>
            <a:endParaRPr lang="en-US" sz="950" dirty="0"/>
          </a:p>
        </p:txBody>
      </p:sp>
      <p:sp>
        <p:nvSpPr>
          <p:cNvPr id="76" name="Text 42"/>
          <p:cNvSpPr/>
          <p:nvPr/>
        </p:nvSpPr>
        <p:spPr>
          <a:xfrm>
            <a:off x="6382512" y="3273552"/>
            <a:ext cx="2615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Audit trail for every decision</a:t>
            </a:r>
            <a:endParaRPr lang="en-US" sz="950" dirty="0"/>
          </a:p>
        </p:txBody>
      </p:sp>
      <p:sp>
        <p:nvSpPr>
          <p:cNvPr id="77" name="Text 43"/>
          <p:cNvSpPr/>
          <p:nvPr/>
        </p:nvSpPr>
        <p:spPr>
          <a:xfrm>
            <a:off x="6382512" y="3621024"/>
            <a:ext cx="2615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SOC-2 Type II roadmap</a:t>
            </a:r>
            <a:endParaRPr lang="en-US" sz="950" dirty="0"/>
          </a:p>
        </p:txBody>
      </p:sp>
      <p:sp>
        <p:nvSpPr>
          <p:cNvPr id="78" name="Text 44"/>
          <p:cNvSpPr/>
          <p:nvPr/>
        </p:nvSpPr>
        <p:spPr>
          <a:xfrm>
            <a:off x="6382512" y="3968496"/>
            <a:ext cx="2615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RBI Regulatory Sandbox eligible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2687619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/>
        </p:nvSpPr>
        <p:spPr>
          <a:xfrm>
            <a:off x="365760" y="1097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50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DIFFERENTIATORS</a:t>
            </a:r>
            <a:endParaRPr lang="en-US" sz="900" dirty="0"/>
          </a:p>
        </p:txBody>
      </p:sp>
      <p:sp>
        <p:nvSpPr>
          <p:cNvPr id="3" name="Text 4"/>
          <p:cNvSpPr/>
          <p:nvPr/>
        </p:nvSpPr>
        <p:spPr>
          <a:xfrm>
            <a:off x="365760" y="32004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2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IntelliCredit — vs. Manual Process &amp; Existing Tools</a:t>
            </a:r>
            <a:endParaRPr lang="en-US" sz="2400" dirty="0"/>
          </a:p>
        </p:txBody>
      </p:sp>
      <p:sp>
        <p:nvSpPr>
          <p:cNvPr id="4" name="Shape 5"/>
          <p:cNvSpPr/>
          <p:nvPr/>
        </p:nvSpPr>
        <p:spPr>
          <a:xfrm>
            <a:off x="410568" y="1115568"/>
            <a:ext cx="1920240" cy="329184"/>
          </a:xfrm>
          <a:prstGeom prst="rect">
            <a:avLst/>
          </a:prstGeom>
          <a:solidFill>
            <a:srgbClr val="0D1117"/>
          </a:solidFill>
          <a:ln w="9525">
            <a:solidFill>
              <a:srgbClr val="1F2D3D"/>
            </a:solidFill>
            <a:prstDash val="solid"/>
          </a:ln>
        </p:spPr>
      </p:sp>
      <p:sp>
        <p:nvSpPr>
          <p:cNvPr id="5" name="Text 6"/>
          <p:cNvSpPr/>
          <p:nvPr/>
        </p:nvSpPr>
        <p:spPr>
          <a:xfrm>
            <a:off x="465432" y="1143000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000" dirty="0"/>
          </a:p>
        </p:txBody>
      </p:sp>
      <p:sp>
        <p:nvSpPr>
          <p:cNvPr id="6" name="Shape 7"/>
          <p:cNvSpPr/>
          <p:nvPr/>
        </p:nvSpPr>
        <p:spPr>
          <a:xfrm>
            <a:off x="2349096" y="1115568"/>
            <a:ext cx="1737360" cy="329184"/>
          </a:xfrm>
          <a:prstGeom prst="rect">
            <a:avLst/>
          </a:prstGeom>
          <a:solidFill>
            <a:srgbClr val="0D1117"/>
          </a:solidFill>
          <a:ln w="9525">
            <a:solidFill>
              <a:srgbClr val="1F2D3D"/>
            </a:solidFill>
            <a:prstDash val="solid"/>
          </a:ln>
        </p:spPr>
      </p:sp>
      <p:sp>
        <p:nvSpPr>
          <p:cNvPr id="7" name="Text 8"/>
          <p:cNvSpPr/>
          <p:nvPr/>
        </p:nvSpPr>
        <p:spPr>
          <a:xfrm>
            <a:off x="2403960" y="1143000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Process</a:t>
            </a:r>
            <a:endParaRPr lang="en-US" sz="1000" dirty="0"/>
          </a:p>
        </p:txBody>
      </p:sp>
      <p:sp>
        <p:nvSpPr>
          <p:cNvPr id="8" name="Shape 9"/>
          <p:cNvSpPr/>
          <p:nvPr/>
        </p:nvSpPr>
        <p:spPr>
          <a:xfrm>
            <a:off x="4086456" y="1115568"/>
            <a:ext cx="1719072" cy="329184"/>
          </a:xfrm>
          <a:prstGeom prst="rect">
            <a:avLst/>
          </a:prstGeom>
          <a:solidFill>
            <a:srgbClr val="0D1117"/>
          </a:solidFill>
          <a:ln w="9525">
            <a:solidFill>
              <a:srgbClr val="1F2D3D"/>
            </a:solidFill>
            <a:prstDash val="solid"/>
          </a:ln>
        </p:spPr>
      </p:sp>
      <p:sp>
        <p:nvSpPr>
          <p:cNvPr id="9" name="Text 10"/>
          <p:cNvSpPr/>
          <p:nvPr/>
        </p:nvSpPr>
        <p:spPr>
          <a:xfrm>
            <a:off x="4141320" y="1143000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AI Tools</a:t>
            </a:r>
            <a:endParaRPr lang="en-US" sz="1000" dirty="0"/>
          </a:p>
        </p:txBody>
      </p:sp>
      <p:sp>
        <p:nvSpPr>
          <p:cNvPr id="10" name="Shape 11"/>
          <p:cNvSpPr/>
          <p:nvPr/>
        </p:nvSpPr>
        <p:spPr>
          <a:xfrm>
            <a:off x="5823816" y="1115568"/>
            <a:ext cx="2286000" cy="329184"/>
          </a:xfrm>
          <a:prstGeom prst="rect">
            <a:avLst/>
          </a:prstGeom>
          <a:solidFill>
            <a:srgbClr val="00C896"/>
          </a:solidFill>
          <a:ln w="9525">
            <a:solidFill>
              <a:srgbClr val="00C896"/>
            </a:solidFill>
            <a:prstDash val="solid"/>
          </a:ln>
        </p:spPr>
      </p:sp>
      <p:sp>
        <p:nvSpPr>
          <p:cNvPr id="11" name="Text 12"/>
          <p:cNvSpPr/>
          <p:nvPr/>
        </p:nvSpPr>
        <p:spPr>
          <a:xfrm>
            <a:off x="5878680" y="1143000"/>
            <a:ext cx="2176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IntelliCredit ✓</a:t>
            </a:r>
            <a:endParaRPr lang="en-US" sz="1000" dirty="0"/>
          </a:p>
        </p:txBody>
      </p:sp>
      <p:sp>
        <p:nvSpPr>
          <p:cNvPr id="12" name="Shape 13"/>
          <p:cNvSpPr/>
          <p:nvPr/>
        </p:nvSpPr>
        <p:spPr>
          <a:xfrm>
            <a:off x="410568" y="1463040"/>
            <a:ext cx="1920240" cy="365760"/>
          </a:xfrm>
          <a:prstGeom prst="rect">
            <a:avLst/>
          </a:prstGeom>
          <a:solidFill>
            <a:srgbClr val="111827"/>
          </a:solidFill>
          <a:ln w="6350">
            <a:solidFill>
              <a:srgbClr val="1F2D3D"/>
            </a:solidFill>
            <a:prstDash val="solid"/>
          </a:ln>
        </p:spPr>
      </p:sp>
      <p:sp>
        <p:nvSpPr>
          <p:cNvPr id="13" name="Text 14"/>
          <p:cNvSpPr/>
          <p:nvPr/>
        </p:nvSpPr>
        <p:spPr>
          <a:xfrm>
            <a:off x="447144" y="1463040"/>
            <a:ext cx="18470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2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Appraisal Time</a:t>
            </a:r>
            <a:endParaRPr lang="en-US" sz="900" dirty="0"/>
          </a:p>
        </p:txBody>
      </p:sp>
      <p:sp>
        <p:nvSpPr>
          <p:cNvPr id="14" name="Shape 15"/>
          <p:cNvSpPr/>
          <p:nvPr/>
        </p:nvSpPr>
        <p:spPr>
          <a:xfrm>
            <a:off x="2349096" y="1463040"/>
            <a:ext cx="1737360" cy="365760"/>
          </a:xfrm>
          <a:prstGeom prst="rect">
            <a:avLst/>
          </a:prstGeom>
          <a:solidFill>
            <a:srgbClr val="111827"/>
          </a:solidFill>
          <a:ln w="6350">
            <a:solidFill>
              <a:srgbClr val="1F2D3D"/>
            </a:solidFill>
            <a:prstDash val="solid"/>
          </a:ln>
        </p:spPr>
      </p:sp>
      <p:sp>
        <p:nvSpPr>
          <p:cNvPr id="15" name="Text 16"/>
          <p:cNvSpPr/>
          <p:nvPr/>
        </p:nvSpPr>
        <p:spPr>
          <a:xfrm>
            <a:off x="2385672" y="1463040"/>
            <a:ext cx="166420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3–6 weeks</a:t>
            </a:r>
            <a:endParaRPr lang="en-US" sz="900" dirty="0"/>
          </a:p>
        </p:txBody>
      </p:sp>
      <p:sp>
        <p:nvSpPr>
          <p:cNvPr id="16" name="Shape 17"/>
          <p:cNvSpPr/>
          <p:nvPr/>
        </p:nvSpPr>
        <p:spPr>
          <a:xfrm>
            <a:off x="4086456" y="1463040"/>
            <a:ext cx="1719072" cy="365760"/>
          </a:xfrm>
          <a:prstGeom prst="rect">
            <a:avLst/>
          </a:prstGeom>
          <a:solidFill>
            <a:srgbClr val="111827"/>
          </a:solidFill>
          <a:ln w="6350">
            <a:solidFill>
              <a:srgbClr val="1F2D3D"/>
            </a:solidFill>
            <a:prstDash val="solid"/>
          </a:ln>
        </p:spPr>
      </p:sp>
      <p:sp>
        <p:nvSpPr>
          <p:cNvPr id="17" name="Text 18"/>
          <p:cNvSpPr/>
          <p:nvPr/>
        </p:nvSpPr>
        <p:spPr>
          <a:xfrm>
            <a:off x="4123032" y="1463040"/>
            <a:ext cx="164592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days</a:t>
            </a:r>
            <a:endParaRPr lang="en-US" sz="900" dirty="0"/>
          </a:p>
        </p:txBody>
      </p:sp>
      <p:sp>
        <p:nvSpPr>
          <p:cNvPr id="18" name="Shape 19"/>
          <p:cNvSpPr/>
          <p:nvPr/>
        </p:nvSpPr>
        <p:spPr>
          <a:xfrm>
            <a:off x="5823816" y="1463040"/>
            <a:ext cx="2286000" cy="365760"/>
          </a:xfrm>
          <a:prstGeom prst="rect">
            <a:avLst/>
          </a:prstGeom>
          <a:solidFill>
            <a:srgbClr val="00C896"/>
          </a:solidFill>
          <a:ln w="6350">
            <a:solidFill>
              <a:srgbClr val="00C896"/>
            </a:solidFill>
            <a:prstDash val="solid"/>
          </a:ln>
        </p:spPr>
      </p:sp>
      <p:sp>
        <p:nvSpPr>
          <p:cNvPr id="19" name="Text 20"/>
          <p:cNvSpPr/>
          <p:nvPr/>
        </p:nvSpPr>
        <p:spPr>
          <a:xfrm>
            <a:off x="5860392" y="1463040"/>
            <a:ext cx="221284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70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 minutes</a:t>
            </a:r>
            <a:endParaRPr lang="en-US" sz="900" dirty="0"/>
          </a:p>
        </p:txBody>
      </p:sp>
      <p:sp>
        <p:nvSpPr>
          <p:cNvPr id="20" name="Shape 21"/>
          <p:cNvSpPr/>
          <p:nvPr/>
        </p:nvSpPr>
        <p:spPr>
          <a:xfrm>
            <a:off x="410568" y="1847088"/>
            <a:ext cx="1920240" cy="365760"/>
          </a:xfrm>
          <a:prstGeom prst="rect">
            <a:avLst/>
          </a:prstGeom>
          <a:solidFill>
            <a:srgbClr val="0D1117"/>
          </a:solidFill>
          <a:ln w="6350">
            <a:solidFill>
              <a:srgbClr val="1F2D3D"/>
            </a:solidFill>
            <a:prstDash val="solid"/>
          </a:ln>
        </p:spPr>
      </p:sp>
      <p:sp>
        <p:nvSpPr>
          <p:cNvPr id="21" name="Text 22"/>
          <p:cNvSpPr/>
          <p:nvPr/>
        </p:nvSpPr>
        <p:spPr>
          <a:xfrm>
            <a:off x="447144" y="1847088"/>
            <a:ext cx="18470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2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India-Specific Data</a:t>
            </a:r>
            <a:endParaRPr lang="en-US" sz="900" dirty="0"/>
          </a:p>
        </p:txBody>
      </p:sp>
      <p:sp>
        <p:nvSpPr>
          <p:cNvPr id="22" name="Shape 23"/>
          <p:cNvSpPr/>
          <p:nvPr/>
        </p:nvSpPr>
        <p:spPr>
          <a:xfrm>
            <a:off x="2349096" y="1847088"/>
            <a:ext cx="1737360" cy="365760"/>
          </a:xfrm>
          <a:prstGeom prst="rect">
            <a:avLst/>
          </a:prstGeom>
          <a:solidFill>
            <a:srgbClr val="0D1117"/>
          </a:solidFill>
          <a:ln w="6350">
            <a:solidFill>
              <a:srgbClr val="1F2D3D"/>
            </a:solidFill>
            <a:prstDash val="solid"/>
          </a:ln>
        </p:spPr>
      </p:sp>
      <p:sp>
        <p:nvSpPr>
          <p:cNvPr id="23" name="Text 24"/>
          <p:cNvSpPr/>
          <p:nvPr/>
        </p:nvSpPr>
        <p:spPr>
          <a:xfrm>
            <a:off x="2385672" y="1847088"/>
            <a:ext cx="166420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84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Partial</a:t>
            </a:r>
            <a:endParaRPr lang="en-US" sz="900" dirty="0"/>
          </a:p>
        </p:txBody>
      </p:sp>
      <p:sp>
        <p:nvSpPr>
          <p:cNvPr id="24" name="Shape 25"/>
          <p:cNvSpPr/>
          <p:nvPr/>
        </p:nvSpPr>
        <p:spPr>
          <a:xfrm>
            <a:off x="4086456" y="1847088"/>
            <a:ext cx="1719072" cy="365760"/>
          </a:xfrm>
          <a:prstGeom prst="rect">
            <a:avLst/>
          </a:prstGeom>
          <a:solidFill>
            <a:srgbClr val="0D1117"/>
          </a:solidFill>
          <a:ln w="6350">
            <a:solidFill>
              <a:srgbClr val="1F2D3D"/>
            </a:solidFill>
            <a:prstDash val="solid"/>
          </a:ln>
        </p:spPr>
      </p:sp>
      <p:sp>
        <p:nvSpPr>
          <p:cNvPr id="25" name="Text 26"/>
          <p:cNvSpPr/>
          <p:nvPr/>
        </p:nvSpPr>
        <p:spPr>
          <a:xfrm>
            <a:off x="4123032" y="1847088"/>
            <a:ext cx="164592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84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Global only</a:t>
            </a:r>
            <a:endParaRPr lang="en-US" sz="900" dirty="0"/>
          </a:p>
        </p:txBody>
      </p:sp>
      <p:sp>
        <p:nvSpPr>
          <p:cNvPr id="26" name="Shape 27"/>
          <p:cNvSpPr/>
          <p:nvPr/>
        </p:nvSpPr>
        <p:spPr>
          <a:xfrm>
            <a:off x="5823816" y="1847088"/>
            <a:ext cx="2286000" cy="365760"/>
          </a:xfrm>
          <a:prstGeom prst="rect">
            <a:avLst/>
          </a:prstGeom>
          <a:solidFill>
            <a:srgbClr val="00C896"/>
          </a:solidFill>
          <a:ln w="6350">
            <a:solidFill>
              <a:srgbClr val="00C896"/>
            </a:solidFill>
            <a:prstDash val="solid"/>
          </a:ln>
        </p:spPr>
      </p:sp>
      <p:sp>
        <p:nvSpPr>
          <p:cNvPr id="27" name="Text 28"/>
          <p:cNvSpPr/>
          <p:nvPr/>
        </p:nvSpPr>
        <p:spPr>
          <a:xfrm>
            <a:off x="5860392" y="1847088"/>
            <a:ext cx="221284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70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 (GST/MCA/DRT)</a:t>
            </a:r>
            <a:endParaRPr lang="en-US" sz="900" dirty="0"/>
          </a:p>
        </p:txBody>
      </p:sp>
      <p:sp>
        <p:nvSpPr>
          <p:cNvPr id="28" name="Shape 29"/>
          <p:cNvSpPr/>
          <p:nvPr/>
        </p:nvSpPr>
        <p:spPr>
          <a:xfrm>
            <a:off x="410568" y="2231136"/>
            <a:ext cx="1920240" cy="365760"/>
          </a:xfrm>
          <a:prstGeom prst="rect">
            <a:avLst/>
          </a:prstGeom>
          <a:solidFill>
            <a:srgbClr val="111827"/>
          </a:solidFill>
          <a:ln w="6350">
            <a:solidFill>
              <a:srgbClr val="1F2D3D"/>
            </a:solidFill>
            <a:prstDash val="solid"/>
          </a:ln>
        </p:spPr>
      </p:sp>
      <p:sp>
        <p:nvSpPr>
          <p:cNvPr id="29" name="Text 30"/>
          <p:cNvSpPr/>
          <p:nvPr/>
        </p:nvSpPr>
        <p:spPr>
          <a:xfrm>
            <a:off x="447144" y="2231136"/>
            <a:ext cx="18470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2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Reconciliation</a:t>
            </a:r>
            <a:endParaRPr lang="en-US" sz="900" dirty="0"/>
          </a:p>
        </p:txBody>
      </p:sp>
      <p:sp>
        <p:nvSpPr>
          <p:cNvPr id="30" name="Shape 31"/>
          <p:cNvSpPr/>
          <p:nvPr/>
        </p:nvSpPr>
        <p:spPr>
          <a:xfrm>
            <a:off x="2349096" y="2231136"/>
            <a:ext cx="1737360" cy="365760"/>
          </a:xfrm>
          <a:prstGeom prst="rect">
            <a:avLst/>
          </a:prstGeom>
          <a:solidFill>
            <a:srgbClr val="111827"/>
          </a:solidFill>
          <a:ln w="6350">
            <a:solidFill>
              <a:srgbClr val="1F2D3D"/>
            </a:solidFill>
            <a:prstDash val="solid"/>
          </a:ln>
        </p:spPr>
      </p:sp>
      <p:sp>
        <p:nvSpPr>
          <p:cNvPr id="31" name="Text 32"/>
          <p:cNvSpPr/>
          <p:nvPr/>
        </p:nvSpPr>
        <p:spPr>
          <a:xfrm>
            <a:off x="2385672" y="2231136"/>
            <a:ext cx="166420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84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Manual</a:t>
            </a:r>
            <a:endParaRPr lang="en-US" sz="900" dirty="0"/>
          </a:p>
        </p:txBody>
      </p:sp>
      <p:sp>
        <p:nvSpPr>
          <p:cNvPr id="32" name="Shape 33"/>
          <p:cNvSpPr/>
          <p:nvPr/>
        </p:nvSpPr>
        <p:spPr>
          <a:xfrm>
            <a:off x="4086456" y="2231136"/>
            <a:ext cx="1719072" cy="365760"/>
          </a:xfrm>
          <a:prstGeom prst="rect">
            <a:avLst/>
          </a:prstGeom>
          <a:solidFill>
            <a:srgbClr val="111827"/>
          </a:solidFill>
          <a:ln w="6350">
            <a:solidFill>
              <a:srgbClr val="1F2D3D"/>
            </a:solidFill>
            <a:prstDash val="solid"/>
          </a:ln>
        </p:spPr>
      </p:sp>
      <p:sp>
        <p:nvSpPr>
          <p:cNvPr id="33" name="Text 34"/>
          <p:cNvSpPr/>
          <p:nvPr/>
        </p:nvSpPr>
        <p:spPr>
          <a:xfrm>
            <a:off x="4123032" y="2231136"/>
            <a:ext cx="164592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84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Not included</a:t>
            </a:r>
            <a:endParaRPr lang="en-US" sz="900" dirty="0"/>
          </a:p>
        </p:txBody>
      </p:sp>
      <p:sp>
        <p:nvSpPr>
          <p:cNvPr id="34" name="Shape 35"/>
          <p:cNvSpPr/>
          <p:nvPr/>
        </p:nvSpPr>
        <p:spPr>
          <a:xfrm>
            <a:off x="5823816" y="2231136"/>
            <a:ext cx="2286000" cy="365760"/>
          </a:xfrm>
          <a:prstGeom prst="rect">
            <a:avLst/>
          </a:prstGeom>
          <a:solidFill>
            <a:srgbClr val="00C896"/>
          </a:solidFill>
          <a:ln w="6350">
            <a:solidFill>
              <a:srgbClr val="00C896"/>
            </a:solidFill>
            <a:prstDash val="solid"/>
          </a:ln>
        </p:spPr>
      </p:sp>
      <p:sp>
        <p:nvSpPr>
          <p:cNvPr id="35" name="Text 36"/>
          <p:cNvSpPr/>
          <p:nvPr/>
        </p:nvSpPr>
        <p:spPr>
          <a:xfrm>
            <a:off x="5860392" y="2231136"/>
            <a:ext cx="221284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70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Automated + flags</a:t>
            </a:r>
            <a:endParaRPr lang="en-US" sz="900" dirty="0"/>
          </a:p>
        </p:txBody>
      </p:sp>
      <p:sp>
        <p:nvSpPr>
          <p:cNvPr id="36" name="Shape 37"/>
          <p:cNvSpPr/>
          <p:nvPr/>
        </p:nvSpPr>
        <p:spPr>
          <a:xfrm>
            <a:off x="410568" y="2615184"/>
            <a:ext cx="1920240" cy="365760"/>
          </a:xfrm>
          <a:prstGeom prst="rect">
            <a:avLst/>
          </a:prstGeom>
          <a:solidFill>
            <a:srgbClr val="0D1117"/>
          </a:solidFill>
          <a:ln w="6350">
            <a:solidFill>
              <a:srgbClr val="1F2D3D"/>
            </a:solidFill>
            <a:prstDash val="solid"/>
          </a:ln>
        </p:spPr>
      </p:sp>
      <p:sp>
        <p:nvSpPr>
          <p:cNvPr id="37" name="Text 38"/>
          <p:cNvSpPr/>
          <p:nvPr/>
        </p:nvSpPr>
        <p:spPr>
          <a:xfrm>
            <a:off x="447144" y="2615184"/>
            <a:ext cx="18470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2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900" dirty="0"/>
          </a:p>
        </p:txBody>
      </p:sp>
      <p:sp>
        <p:nvSpPr>
          <p:cNvPr id="38" name="Shape 39"/>
          <p:cNvSpPr/>
          <p:nvPr/>
        </p:nvSpPr>
        <p:spPr>
          <a:xfrm>
            <a:off x="2349096" y="2615184"/>
            <a:ext cx="1737360" cy="365760"/>
          </a:xfrm>
          <a:prstGeom prst="rect">
            <a:avLst/>
          </a:prstGeom>
          <a:solidFill>
            <a:srgbClr val="0D1117"/>
          </a:solidFill>
          <a:ln w="6350">
            <a:solidFill>
              <a:srgbClr val="1F2D3D"/>
            </a:solidFill>
            <a:prstDash val="solid"/>
          </a:ln>
        </p:spPr>
      </p:sp>
      <p:sp>
        <p:nvSpPr>
          <p:cNvPr id="39" name="Text 40"/>
          <p:cNvSpPr/>
          <p:nvPr/>
        </p:nvSpPr>
        <p:spPr>
          <a:xfrm>
            <a:off x="2385672" y="2615184"/>
            <a:ext cx="166420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84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Opaque</a:t>
            </a:r>
            <a:endParaRPr lang="en-US" sz="900" dirty="0"/>
          </a:p>
        </p:txBody>
      </p:sp>
      <p:sp>
        <p:nvSpPr>
          <p:cNvPr id="40" name="Shape 41"/>
          <p:cNvSpPr/>
          <p:nvPr/>
        </p:nvSpPr>
        <p:spPr>
          <a:xfrm>
            <a:off x="4086456" y="2615184"/>
            <a:ext cx="1719072" cy="365760"/>
          </a:xfrm>
          <a:prstGeom prst="rect">
            <a:avLst/>
          </a:prstGeom>
          <a:solidFill>
            <a:srgbClr val="0D1117"/>
          </a:solidFill>
          <a:ln w="6350">
            <a:solidFill>
              <a:srgbClr val="1F2D3D"/>
            </a:solidFill>
            <a:prstDash val="solid"/>
          </a:ln>
        </p:spPr>
      </p:sp>
      <p:sp>
        <p:nvSpPr>
          <p:cNvPr id="41" name="Text 42"/>
          <p:cNvSpPr/>
          <p:nvPr/>
        </p:nvSpPr>
        <p:spPr>
          <a:xfrm>
            <a:off x="4123032" y="2615184"/>
            <a:ext cx="164592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84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Black box</a:t>
            </a:r>
            <a:endParaRPr lang="en-US" sz="900" dirty="0"/>
          </a:p>
        </p:txBody>
      </p:sp>
      <p:sp>
        <p:nvSpPr>
          <p:cNvPr id="42" name="Shape 43"/>
          <p:cNvSpPr/>
          <p:nvPr/>
        </p:nvSpPr>
        <p:spPr>
          <a:xfrm>
            <a:off x="5823816" y="2615184"/>
            <a:ext cx="2286000" cy="365760"/>
          </a:xfrm>
          <a:prstGeom prst="rect">
            <a:avLst/>
          </a:prstGeom>
          <a:solidFill>
            <a:srgbClr val="00C896"/>
          </a:solidFill>
          <a:ln w="6350">
            <a:solidFill>
              <a:srgbClr val="00C896"/>
            </a:solidFill>
            <a:prstDash val="solid"/>
          </a:ln>
        </p:spPr>
      </p:sp>
      <p:sp>
        <p:nvSpPr>
          <p:cNvPr id="43" name="Text 44"/>
          <p:cNvSpPr/>
          <p:nvPr/>
        </p:nvSpPr>
        <p:spPr>
          <a:xfrm>
            <a:off x="5860392" y="2615184"/>
            <a:ext cx="221284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70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SHAP per factor</a:t>
            </a:r>
            <a:endParaRPr lang="en-US" sz="900" dirty="0"/>
          </a:p>
        </p:txBody>
      </p:sp>
      <p:sp>
        <p:nvSpPr>
          <p:cNvPr id="44" name="Shape 45"/>
          <p:cNvSpPr/>
          <p:nvPr/>
        </p:nvSpPr>
        <p:spPr>
          <a:xfrm>
            <a:off x="410568" y="2999232"/>
            <a:ext cx="1920240" cy="365760"/>
          </a:xfrm>
          <a:prstGeom prst="rect">
            <a:avLst/>
          </a:prstGeom>
          <a:solidFill>
            <a:srgbClr val="111827"/>
          </a:solidFill>
          <a:ln w="6350">
            <a:solidFill>
              <a:srgbClr val="1F2D3D"/>
            </a:solidFill>
            <a:prstDash val="solid"/>
          </a:ln>
        </p:spPr>
      </p:sp>
      <p:sp>
        <p:nvSpPr>
          <p:cNvPr id="45" name="Text 46"/>
          <p:cNvSpPr/>
          <p:nvPr/>
        </p:nvSpPr>
        <p:spPr>
          <a:xfrm>
            <a:off x="447144" y="2999232"/>
            <a:ext cx="18470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2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 Output</a:t>
            </a:r>
            <a:endParaRPr lang="en-US" sz="900" dirty="0"/>
          </a:p>
        </p:txBody>
      </p:sp>
      <p:sp>
        <p:nvSpPr>
          <p:cNvPr id="46" name="Shape 47"/>
          <p:cNvSpPr/>
          <p:nvPr/>
        </p:nvSpPr>
        <p:spPr>
          <a:xfrm>
            <a:off x="2349096" y="2999232"/>
            <a:ext cx="1737360" cy="365760"/>
          </a:xfrm>
          <a:prstGeom prst="rect">
            <a:avLst/>
          </a:prstGeom>
          <a:solidFill>
            <a:srgbClr val="111827"/>
          </a:solidFill>
          <a:ln w="6350">
            <a:solidFill>
              <a:srgbClr val="1F2D3D"/>
            </a:solidFill>
            <a:prstDash val="solid"/>
          </a:ln>
        </p:spPr>
      </p:sp>
      <p:sp>
        <p:nvSpPr>
          <p:cNvPr id="47" name="Text 48"/>
          <p:cNvSpPr/>
          <p:nvPr/>
        </p:nvSpPr>
        <p:spPr>
          <a:xfrm>
            <a:off x="2385672" y="2999232"/>
            <a:ext cx="166420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Manual doc</a:t>
            </a:r>
            <a:endParaRPr lang="en-US" sz="900" dirty="0"/>
          </a:p>
        </p:txBody>
      </p:sp>
      <p:sp>
        <p:nvSpPr>
          <p:cNvPr id="48" name="Shape 49"/>
          <p:cNvSpPr/>
          <p:nvPr/>
        </p:nvSpPr>
        <p:spPr>
          <a:xfrm>
            <a:off x="4086456" y="2999232"/>
            <a:ext cx="1719072" cy="365760"/>
          </a:xfrm>
          <a:prstGeom prst="rect">
            <a:avLst/>
          </a:prstGeom>
          <a:solidFill>
            <a:srgbClr val="111827"/>
          </a:solidFill>
          <a:ln w="6350">
            <a:solidFill>
              <a:srgbClr val="1F2D3D"/>
            </a:solidFill>
            <a:prstDash val="solid"/>
          </a:ln>
        </p:spPr>
      </p:sp>
      <p:sp>
        <p:nvSpPr>
          <p:cNvPr id="49" name="Text 50"/>
          <p:cNvSpPr/>
          <p:nvPr/>
        </p:nvSpPr>
        <p:spPr>
          <a:xfrm>
            <a:off x="4123032" y="2999232"/>
            <a:ext cx="164592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84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None</a:t>
            </a:r>
            <a:endParaRPr lang="en-US" sz="900" dirty="0"/>
          </a:p>
        </p:txBody>
      </p:sp>
      <p:sp>
        <p:nvSpPr>
          <p:cNvPr id="50" name="Shape 51"/>
          <p:cNvSpPr/>
          <p:nvPr/>
        </p:nvSpPr>
        <p:spPr>
          <a:xfrm>
            <a:off x="5823816" y="2999232"/>
            <a:ext cx="2286000" cy="365760"/>
          </a:xfrm>
          <a:prstGeom prst="rect">
            <a:avLst/>
          </a:prstGeom>
          <a:solidFill>
            <a:srgbClr val="00C896"/>
          </a:solidFill>
          <a:ln w="6350">
            <a:solidFill>
              <a:srgbClr val="00C896"/>
            </a:solidFill>
            <a:prstDash val="solid"/>
          </a:ln>
        </p:spPr>
      </p:sp>
      <p:sp>
        <p:nvSpPr>
          <p:cNvPr id="51" name="Text 52"/>
          <p:cNvSpPr/>
          <p:nvPr/>
        </p:nvSpPr>
        <p:spPr>
          <a:xfrm>
            <a:off x="5860392" y="2999232"/>
            <a:ext cx="221284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70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AI-generated PDF/DOCX</a:t>
            </a:r>
            <a:endParaRPr lang="en-US" sz="900" dirty="0"/>
          </a:p>
        </p:txBody>
      </p:sp>
      <p:sp>
        <p:nvSpPr>
          <p:cNvPr id="52" name="Shape 53"/>
          <p:cNvSpPr/>
          <p:nvPr/>
        </p:nvSpPr>
        <p:spPr>
          <a:xfrm>
            <a:off x="410568" y="3383280"/>
            <a:ext cx="1920240" cy="365760"/>
          </a:xfrm>
          <a:prstGeom prst="rect">
            <a:avLst/>
          </a:prstGeom>
          <a:solidFill>
            <a:srgbClr val="0D1117"/>
          </a:solidFill>
          <a:ln w="6350">
            <a:solidFill>
              <a:srgbClr val="1F2D3D"/>
            </a:solidFill>
            <a:prstDash val="solid"/>
          </a:ln>
        </p:spPr>
      </p:sp>
      <p:sp>
        <p:nvSpPr>
          <p:cNvPr id="53" name="Text 54"/>
          <p:cNvSpPr/>
          <p:nvPr/>
        </p:nvSpPr>
        <p:spPr>
          <a:xfrm>
            <a:off x="447144" y="3383280"/>
            <a:ext cx="18470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2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900" dirty="0"/>
          </a:p>
        </p:txBody>
      </p:sp>
      <p:sp>
        <p:nvSpPr>
          <p:cNvPr id="54" name="Shape 55"/>
          <p:cNvSpPr/>
          <p:nvPr/>
        </p:nvSpPr>
        <p:spPr>
          <a:xfrm>
            <a:off x="2349096" y="3383280"/>
            <a:ext cx="1737360" cy="365760"/>
          </a:xfrm>
          <a:prstGeom prst="rect">
            <a:avLst/>
          </a:prstGeom>
          <a:solidFill>
            <a:srgbClr val="0D1117"/>
          </a:solidFill>
          <a:ln w="6350">
            <a:solidFill>
              <a:srgbClr val="1F2D3D"/>
            </a:solidFill>
            <a:prstDash val="solid"/>
          </a:ln>
        </p:spPr>
      </p:sp>
      <p:sp>
        <p:nvSpPr>
          <p:cNvPr id="55" name="Text 56"/>
          <p:cNvSpPr/>
          <p:nvPr/>
        </p:nvSpPr>
        <p:spPr>
          <a:xfrm>
            <a:off x="2385672" y="3383280"/>
            <a:ext cx="166420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Always</a:t>
            </a:r>
            <a:endParaRPr lang="en-US" sz="900" dirty="0"/>
          </a:p>
        </p:txBody>
      </p:sp>
      <p:sp>
        <p:nvSpPr>
          <p:cNvPr id="56" name="Shape 57"/>
          <p:cNvSpPr/>
          <p:nvPr/>
        </p:nvSpPr>
        <p:spPr>
          <a:xfrm>
            <a:off x="4086456" y="3383280"/>
            <a:ext cx="1719072" cy="365760"/>
          </a:xfrm>
          <a:prstGeom prst="rect">
            <a:avLst/>
          </a:prstGeom>
          <a:solidFill>
            <a:srgbClr val="0D1117"/>
          </a:solidFill>
          <a:ln w="6350">
            <a:solidFill>
              <a:srgbClr val="1F2D3D"/>
            </a:solidFill>
            <a:prstDash val="solid"/>
          </a:ln>
        </p:spPr>
      </p:sp>
      <p:sp>
        <p:nvSpPr>
          <p:cNvPr id="57" name="Text 58"/>
          <p:cNvSpPr/>
          <p:nvPr/>
        </p:nvSpPr>
        <p:spPr>
          <a:xfrm>
            <a:off x="4123032" y="3383280"/>
            <a:ext cx="164592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84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No portal</a:t>
            </a:r>
            <a:endParaRPr lang="en-US" sz="900" dirty="0"/>
          </a:p>
        </p:txBody>
      </p:sp>
      <p:sp>
        <p:nvSpPr>
          <p:cNvPr id="58" name="Shape 59"/>
          <p:cNvSpPr/>
          <p:nvPr/>
        </p:nvSpPr>
        <p:spPr>
          <a:xfrm>
            <a:off x="5823816" y="3383280"/>
            <a:ext cx="2286000" cy="365760"/>
          </a:xfrm>
          <a:prstGeom prst="rect">
            <a:avLst/>
          </a:prstGeom>
          <a:solidFill>
            <a:srgbClr val="00C896"/>
          </a:solidFill>
          <a:ln w="6350">
            <a:solidFill>
              <a:srgbClr val="00C896"/>
            </a:solidFill>
            <a:prstDash val="solid"/>
          </a:ln>
        </p:spPr>
      </p:sp>
      <p:sp>
        <p:nvSpPr>
          <p:cNvPr id="59" name="Text 60"/>
          <p:cNvSpPr/>
          <p:nvPr/>
        </p:nvSpPr>
        <p:spPr>
          <a:xfrm>
            <a:off x="5860392" y="3383280"/>
            <a:ext cx="221284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70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Qualitative portal</a:t>
            </a:r>
            <a:endParaRPr lang="en-US" sz="900" dirty="0"/>
          </a:p>
        </p:txBody>
      </p:sp>
      <p:sp>
        <p:nvSpPr>
          <p:cNvPr id="60" name="Shape 61"/>
          <p:cNvSpPr/>
          <p:nvPr/>
        </p:nvSpPr>
        <p:spPr>
          <a:xfrm>
            <a:off x="410568" y="3767328"/>
            <a:ext cx="1920240" cy="365760"/>
          </a:xfrm>
          <a:prstGeom prst="rect">
            <a:avLst/>
          </a:prstGeom>
          <a:solidFill>
            <a:srgbClr val="111827"/>
          </a:solidFill>
          <a:ln w="6350">
            <a:solidFill>
              <a:srgbClr val="1F2D3D"/>
            </a:solidFill>
            <a:prstDash val="solid"/>
          </a:ln>
        </p:spPr>
      </p:sp>
      <p:sp>
        <p:nvSpPr>
          <p:cNvPr id="61" name="Text 62"/>
          <p:cNvSpPr/>
          <p:nvPr/>
        </p:nvSpPr>
        <p:spPr>
          <a:xfrm>
            <a:off x="447144" y="3767328"/>
            <a:ext cx="18470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2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Research</a:t>
            </a:r>
            <a:endParaRPr lang="en-US" sz="900" dirty="0"/>
          </a:p>
        </p:txBody>
      </p:sp>
      <p:sp>
        <p:nvSpPr>
          <p:cNvPr id="62" name="Shape 63"/>
          <p:cNvSpPr/>
          <p:nvPr/>
        </p:nvSpPr>
        <p:spPr>
          <a:xfrm>
            <a:off x="2349096" y="3767328"/>
            <a:ext cx="1737360" cy="365760"/>
          </a:xfrm>
          <a:prstGeom prst="rect">
            <a:avLst/>
          </a:prstGeom>
          <a:solidFill>
            <a:srgbClr val="111827"/>
          </a:solidFill>
          <a:ln w="6350">
            <a:solidFill>
              <a:srgbClr val="1F2D3D"/>
            </a:solidFill>
            <a:prstDash val="solid"/>
          </a:ln>
        </p:spPr>
      </p:sp>
      <p:sp>
        <p:nvSpPr>
          <p:cNvPr id="63" name="Text 64"/>
          <p:cNvSpPr/>
          <p:nvPr/>
        </p:nvSpPr>
        <p:spPr>
          <a:xfrm>
            <a:off x="2385672" y="3767328"/>
            <a:ext cx="166420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84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Ad hoc</a:t>
            </a:r>
            <a:endParaRPr lang="en-US" sz="900" dirty="0"/>
          </a:p>
        </p:txBody>
      </p:sp>
      <p:sp>
        <p:nvSpPr>
          <p:cNvPr id="64" name="Shape 65"/>
          <p:cNvSpPr/>
          <p:nvPr/>
        </p:nvSpPr>
        <p:spPr>
          <a:xfrm>
            <a:off x="4086456" y="3767328"/>
            <a:ext cx="1719072" cy="365760"/>
          </a:xfrm>
          <a:prstGeom prst="rect">
            <a:avLst/>
          </a:prstGeom>
          <a:solidFill>
            <a:srgbClr val="111827"/>
          </a:solidFill>
          <a:ln w="6350">
            <a:solidFill>
              <a:srgbClr val="1F2D3D"/>
            </a:solidFill>
            <a:prstDash val="solid"/>
          </a:ln>
        </p:spPr>
      </p:sp>
      <p:sp>
        <p:nvSpPr>
          <p:cNvPr id="65" name="Text 66"/>
          <p:cNvSpPr/>
          <p:nvPr/>
        </p:nvSpPr>
        <p:spPr>
          <a:xfrm>
            <a:off x="4123032" y="3767328"/>
            <a:ext cx="164592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84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No</a:t>
            </a:r>
            <a:endParaRPr lang="en-US" sz="900" dirty="0"/>
          </a:p>
        </p:txBody>
      </p:sp>
      <p:sp>
        <p:nvSpPr>
          <p:cNvPr id="66" name="Shape 67"/>
          <p:cNvSpPr/>
          <p:nvPr/>
        </p:nvSpPr>
        <p:spPr>
          <a:xfrm>
            <a:off x="5823816" y="3767328"/>
            <a:ext cx="2286000" cy="365760"/>
          </a:xfrm>
          <a:prstGeom prst="rect">
            <a:avLst/>
          </a:prstGeom>
          <a:solidFill>
            <a:srgbClr val="00C896"/>
          </a:solidFill>
          <a:ln w="6350">
            <a:solidFill>
              <a:srgbClr val="00C896"/>
            </a:solidFill>
            <a:prstDash val="solid"/>
          </a:ln>
        </p:spPr>
      </p:sp>
      <p:sp>
        <p:nvSpPr>
          <p:cNvPr id="67" name="Text 68"/>
          <p:cNvSpPr/>
          <p:nvPr/>
        </p:nvSpPr>
        <p:spPr>
          <a:xfrm>
            <a:off x="5860392" y="3767328"/>
            <a:ext cx="221284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70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7-source autonomous</a:t>
            </a:r>
            <a:endParaRPr lang="en-US" sz="900" dirty="0"/>
          </a:p>
        </p:txBody>
      </p:sp>
      <p:sp>
        <p:nvSpPr>
          <p:cNvPr id="68" name="Shape 69"/>
          <p:cNvSpPr/>
          <p:nvPr/>
        </p:nvSpPr>
        <p:spPr>
          <a:xfrm>
            <a:off x="410568" y="4151376"/>
            <a:ext cx="1920240" cy="365760"/>
          </a:xfrm>
          <a:prstGeom prst="rect">
            <a:avLst/>
          </a:prstGeom>
          <a:solidFill>
            <a:srgbClr val="0D1117"/>
          </a:solidFill>
          <a:ln w="6350">
            <a:solidFill>
              <a:srgbClr val="1F2D3D"/>
            </a:solidFill>
            <a:prstDash val="solid"/>
          </a:ln>
        </p:spPr>
      </p:sp>
      <p:sp>
        <p:nvSpPr>
          <p:cNvPr id="69" name="Text 70"/>
          <p:cNvSpPr/>
          <p:nvPr/>
        </p:nvSpPr>
        <p:spPr>
          <a:xfrm>
            <a:off x="447144" y="4151376"/>
            <a:ext cx="18470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2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Compliance</a:t>
            </a:r>
            <a:endParaRPr lang="en-US" sz="900" dirty="0"/>
          </a:p>
        </p:txBody>
      </p:sp>
      <p:sp>
        <p:nvSpPr>
          <p:cNvPr id="70" name="Shape 71"/>
          <p:cNvSpPr/>
          <p:nvPr/>
        </p:nvSpPr>
        <p:spPr>
          <a:xfrm>
            <a:off x="2349096" y="4151376"/>
            <a:ext cx="1737360" cy="365760"/>
          </a:xfrm>
          <a:prstGeom prst="rect">
            <a:avLst/>
          </a:prstGeom>
          <a:solidFill>
            <a:srgbClr val="0D1117"/>
          </a:solidFill>
          <a:ln w="6350">
            <a:solidFill>
              <a:srgbClr val="1F2D3D"/>
            </a:solidFill>
            <a:prstDash val="solid"/>
          </a:ln>
        </p:spPr>
      </p:sp>
      <p:sp>
        <p:nvSpPr>
          <p:cNvPr id="71" name="Text 72"/>
          <p:cNvSpPr/>
          <p:nvPr/>
        </p:nvSpPr>
        <p:spPr>
          <a:xfrm>
            <a:off x="2385672" y="4151376"/>
            <a:ext cx="166420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Banker</a:t>
            </a:r>
            <a:endParaRPr lang="en-US" sz="900" dirty="0"/>
          </a:p>
        </p:txBody>
      </p:sp>
      <p:sp>
        <p:nvSpPr>
          <p:cNvPr id="72" name="Shape 73"/>
          <p:cNvSpPr/>
          <p:nvPr/>
        </p:nvSpPr>
        <p:spPr>
          <a:xfrm>
            <a:off x="4086456" y="4151376"/>
            <a:ext cx="1719072" cy="365760"/>
          </a:xfrm>
          <a:prstGeom prst="rect">
            <a:avLst/>
          </a:prstGeom>
          <a:solidFill>
            <a:srgbClr val="0D1117"/>
          </a:solidFill>
          <a:ln w="6350">
            <a:solidFill>
              <a:srgbClr val="1F2D3D"/>
            </a:solidFill>
            <a:prstDash val="solid"/>
          </a:ln>
        </p:spPr>
      </p:sp>
      <p:sp>
        <p:nvSpPr>
          <p:cNvPr id="73" name="Text 74"/>
          <p:cNvSpPr/>
          <p:nvPr/>
        </p:nvSpPr>
        <p:spPr>
          <a:xfrm>
            <a:off x="4123032" y="4151376"/>
            <a:ext cx="164592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84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Unknown</a:t>
            </a:r>
            <a:endParaRPr lang="en-US" sz="900" dirty="0"/>
          </a:p>
        </p:txBody>
      </p:sp>
      <p:sp>
        <p:nvSpPr>
          <p:cNvPr id="74" name="Shape 75"/>
          <p:cNvSpPr/>
          <p:nvPr/>
        </p:nvSpPr>
        <p:spPr>
          <a:xfrm>
            <a:off x="5823816" y="4151376"/>
            <a:ext cx="2286000" cy="365760"/>
          </a:xfrm>
          <a:prstGeom prst="rect">
            <a:avLst/>
          </a:prstGeom>
          <a:solidFill>
            <a:srgbClr val="00C896"/>
          </a:solidFill>
          <a:ln w="6350">
            <a:solidFill>
              <a:srgbClr val="00C896"/>
            </a:solidFill>
            <a:prstDash val="solid"/>
          </a:ln>
        </p:spPr>
      </p:sp>
      <p:sp>
        <p:nvSpPr>
          <p:cNvPr id="75" name="Text 76"/>
          <p:cNvSpPr/>
          <p:nvPr/>
        </p:nvSpPr>
        <p:spPr>
          <a:xfrm>
            <a:off x="5860392" y="4151376"/>
            <a:ext cx="221284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70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RBI-aligned design</a:t>
            </a:r>
            <a:endParaRPr lang="en-US" sz="900" dirty="0"/>
          </a:p>
        </p:txBody>
      </p:sp>
      <p:sp>
        <p:nvSpPr>
          <p:cNvPr id="76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518927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64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D4AA"/>
                </a:solidFill>
              </a:rPr>
              <a:t>TEAM &amp; ROADMAP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ED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Team Behind IntelliCredit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20039" y="1207008"/>
            <a:ext cx="3781881" cy="1664208"/>
          </a:xfrm>
          <a:prstGeom prst="rect">
            <a:avLst/>
          </a:prstGeom>
          <a:solidFill>
            <a:srgbClr val="151A25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" y="1207008"/>
            <a:ext cx="45720" cy="1664208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298448"/>
            <a:ext cx="1255690" cy="1499616"/>
          </a:xfrm>
          <a:prstGeom prst="rect">
            <a:avLst/>
          </a:prstGeom>
          <a:solidFill>
            <a:srgbClr val="00D4AA">
              <a:alpha val="30000"/>
            </a:srgbClr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" y="13167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945552" y="1304887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8EDF5"/>
                </a:solidFill>
              </a:rPr>
              <a:t>Team Member 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945551" y="1542630"/>
            <a:ext cx="2053337" cy="12371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 err="1" smtClean="0">
                <a:solidFill>
                  <a:srgbClr val="00D4AA"/>
                </a:solidFill>
              </a:rPr>
              <a:t>Parshav</a:t>
            </a:r>
            <a:r>
              <a:rPr lang="en-US" sz="1000" dirty="0" smtClean="0">
                <a:solidFill>
                  <a:srgbClr val="00D4AA"/>
                </a:solidFill>
              </a:rPr>
              <a:t> Shah</a:t>
            </a:r>
          </a:p>
          <a:p>
            <a:pPr marL="0" indent="0">
              <a:buNone/>
            </a:pPr>
            <a:endParaRPr lang="en-US" sz="1000" dirty="0">
              <a:solidFill>
                <a:srgbClr val="00D4AA"/>
              </a:solidFill>
            </a:endParaRPr>
          </a:p>
          <a:p>
            <a:pPr marL="0" indent="0">
              <a:buNone/>
            </a:pPr>
            <a:r>
              <a:rPr lang="en-US" sz="1000" dirty="0" err="1" smtClean="0">
                <a:solidFill>
                  <a:srgbClr val="00D4AA"/>
                </a:solidFill>
              </a:rPr>
              <a:t>B.Tech</a:t>
            </a:r>
            <a:r>
              <a:rPr lang="en-US" sz="1000" dirty="0" smtClean="0">
                <a:solidFill>
                  <a:srgbClr val="00D4AA"/>
                </a:solidFill>
              </a:rPr>
              <a:t>  Sem-6</a:t>
            </a:r>
          </a:p>
          <a:p>
            <a:pPr marL="0" indent="0">
              <a:buNone/>
            </a:pPr>
            <a:endParaRPr lang="en-US" sz="1000" dirty="0">
              <a:solidFill>
                <a:srgbClr val="00D4AA"/>
              </a:solidFill>
            </a:endParaRPr>
          </a:p>
          <a:p>
            <a:pPr marL="0" indent="0">
              <a:buNone/>
            </a:pPr>
            <a:r>
              <a:rPr lang="en-US" sz="1000" dirty="0" smtClean="0">
                <a:solidFill>
                  <a:srgbClr val="00D4AA"/>
                </a:solidFill>
              </a:rPr>
              <a:t>GLS University, Ahmedabad, Gujarat</a:t>
            </a:r>
          </a:p>
          <a:p>
            <a:pPr marL="0" indent="0">
              <a:buNone/>
            </a:pP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870782" y="11704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A99"/>
                </a:solidFill>
              </a:rPr>
              <a:t>Roadmap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825062" y="1481328"/>
            <a:ext cx="4069080" cy="694944"/>
          </a:xfrm>
          <a:prstGeom prst="rect">
            <a:avLst/>
          </a:prstGeom>
          <a:solidFill>
            <a:srgbClr val="151A25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825062" y="1481328"/>
            <a:ext cx="45720" cy="69494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943934" y="1609344"/>
            <a:ext cx="320040" cy="320040"/>
          </a:xfrm>
          <a:prstGeom prst="ellipse">
            <a:avLst/>
          </a:prstGeom>
          <a:solidFill>
            <a:srgbClr val="00D4AA">
              <a:alpha val="25000"/>
            </a:srgbClr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309694" y="15544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D4AA"/>
                </a:solidFill>
              </a:rPr>
              <a:t>Phase 1  ✓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309694" y="175564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8EDF5"/>
                </a:solidFill>
              </a:rPr>
              <a:t>Hackathon MVP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309694" y="1975104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</a:rPr>
              <a:t>3-pillar prototype, React UI, mock data demo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4825062" y="2286000"/>
            <a:ext cx="4069080" cy="694944"/>
          </a:xfrm>
          <a:prstGeom prst="rect">
            <a:avLst/>
          </a:prstGeom>
          <a:solidFill>
            <a:srgbClr val="151A25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4825062" y="2286000"/>
            <a:ext cx="45720" cy="69494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43934" y="2414016"/>
            <a:ext cx="320040" cy="320040"/>
          </a:xfrm>
          <a:prstGeom prst="ellipse">
            <a:avLst/>
          </a:prstGeom>
          <a:solidFill>
            <a:srgbClr val="3B82F6">
              <a:alpha val="25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309694" y="235915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B82F6"/>
                </a:solidFill>
              </a:rPr>
              <a:t>Phase 2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5309694" y="256032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8EDF5"/>
                </a:solidFill>
              </a:rPr>
              <a:t>Banking Integration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309694" y="2779776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</a:rPr>
              <a:t>Live CBS APIs, real GST portal, Finbox/CKYC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4825062" y="3090672"/>
            <a:ext cx="4069080" cy="694944"/>
          </a:xfrm>
          <a:prstGeom prst="rect">
            <a:avLst/>
          </a:prstGeom>
          <a:solidFill>
            <a:srgbClr val="151A25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4825062" y="3090672"/>
            <a:ext cx="45720" cy="69494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943934" y="3218688"/>
            <a:ext cx="320040" cy="320040"/>
          </a:xfrm>
          <a:prstGeom prst="ellipse">
            <a:avLst/>
          </a:prstGeom>
          <a:solidFill>
            <a:srgbClr val="F59E0B">
              <a:alpha val="2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309694" y="3163824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59E0B"/>
                </a:solidFill>
              </a:rPr>
              <a:t>Phase 3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5309694" y="3364992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8EDF5"/>
                </a:solidFill>
              </a:rPr>
              <a:t>Pilot Deployment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5309694" y="358444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</a:rPr>
              <a:t>NBFC / regional bank pilot — 50 live cases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4825062" y="3895344"/>
            <a:ext cx="4069080" cy="694944"/>
          </a:xfrm>
          <a:prstGeom prst="rect">
            <a:avLst/>
          </a:prstGeom>
          <a:solidFill>
            <a:srgbClr val="151A25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4825062" y="3895344"/>
            <a:ext cx="45720" cy="694944"/>
          </a:xfrm>
          <a:prstGeom prst="rect">
            <a:avLst/>
          </a:prstGeom>
          <a:solidFill>
            <a:srgbClr val="6B7A99"/>
          </a:solidFill>
          <a:ln w="12700">
            <a:solidFill>
              <a:srgbClr val="6B7A9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943934" y="4023360"/>
            <a:ext cx="320040" cy="320040"/>
          </a:xfrm>
          <a:prstGeom prst="ellipse">
            <a:avLst/>
          </a:prstGeom>
          <a:solidFill>
            <a:srgbClr val="6B7A99">
              <a:alpha val="25000"/>
            </a:srgbClr>
          </a:solidFill>
          <a:ln w="12700">
            <a:solidFill>
              <a:srgbClr val="6B7A99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309694" y="3968496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B7A99"/>
                </a:solidFill>
              </a:rPr>
              <a:t>Phase 4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5309694" y="416966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8EDF5"/>
                </a:solidFill>
              </a:rPr>
              <a:t>Scale &amp; Compliance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5309694" y="438912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</a:rPr>
              <a:t>RBI sandbox, SOC-2 audit, multi-bank rollout</a:t>
            </a:r>
            <a:endParaRPr lang="en-US" sz="8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352" t="64082" r="40177" b="5306"/>
          <a:stretch/>
        </p:blipFill>
        <p:spPr bwMode="auto">
          <a:xfrm>
            <a:off x="441101" y="1312872"/>
            <a:ext cx="1271789" cy="15133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1" name="Shape 5"/>
          <p:cNvSpPr/>
          <p:nvPr/>
        </p:nvSpPr>
        <p:spPr>
          <a:xfrm>
            <a:off x="320040" y="3191256"/>
            <a:ext cx="3781881" cy="1664208"/>
          </a:xfrm>
          <a:prstGeom prst="rect">
            <a:avLst/>
          </a:prstGeom>
          <a:solidFill>
            <a:srgbClr val="151A25"/>
          </a:solidFill>
          <a:ln w="9525">
            <a:solidFill>
              <a:srgbClr val="1E25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2" name="Shape 6"/>
          <p:cNvSpPr/>
          <p:nvPr/>
        </p:nvSpPr>
        <p:spPr>
          <a:xfrm>
            <a:off x="315961" y="3191256"/>
            <a:ext cx="45720" cy="1664208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63" name="Text 10"/>
          <p:cNvSpPr/>
          <p:nvPr/>
        </p:nvSpPr>
        <p:spPr>
          <a:xfrm>
            <a:off x="441100" y="3286022"/>
            <a:ext cx="3557789" cy="1517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 smtClean="0">
                <a:solidFill>
                  <a:srgbClr val="00D4AA"/>
                </a:solidFill>
              </a:rPr>
              <a:t>GITHUB:</a:t>
            </a:r>
          </a:p>
          <a:p>
            <a:r>
              <a:rPr lang="en-US" sz="1000" dirty="0">
                <a:hlinkClick r:id="rId4"/>
              </a:rPr>
              <a:t>https://github.com/Parshav2304</a:t>
            </a:r>
            <a:r>
              <a:rPr lang="en-US" sz="1000" dirty="0" smtClean="0">
                <a:hlinkClick r:id="rId4"/>
              </a:rPr>
              <a:t>/</a:t>
            </a:r>
            <a:endParaRPr lang="en-US" sz="1000" dirty="0" smtClean="0"/>
          </a:p>
          <a:p>
            <a:endParaRPr lang="en-US" sz="1000" dirty="0"/>
          </a:p>
          <a:p>
            <a:r>
              <a:rPr lang="en-US" sz="1000" dirty="0" smtClean="0">
                <a:solidFill>
                  <a:srgbClr val="00D4AA"/>
                </a:solidFill>
              </a:rPr>
              <a:t>LinkedIn:</a:t>
            </a:r>
          </a:p>
          <a:p>
            <a:r>
              <a:rPr lang="en-US" sz="1000" dirty="0">
                <a:solidFill>
                  <a:srgbClr val="00D4AA"/>
                </a:solidFill>
                <a:hlinkClick r:id="rId5"/>
              </a:rPr>
              <a:t>https://www.linkedin.com/in/parshav-shah-485739284/</a:t>
            </a:r>
            <a:endParaRPr lang="en-US" sz="1000" dirty="0">
              <a:solidFill>
                <a:srgbClr val="00D4AA"/>
              </a:solidFill>
            </a:endParaRPr>
          </a:p>
          <a:p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1"/>
          <p:cNvSpPr/>
          <p:nvPr/>
        </p:nvSpPr>
        <p:spPr>
          <a:xfrm>
            <a:off x="848138" y="36575"/>
            <a:ext cx="6924261" cy="5047489"/>
          </a:xfrm>
          <a:prstGeom prst="ellipse">
            <a:avLst/>
          </a:prstGeom>
          <a:solidFill>
            <a:schemeClr val="tx1">
              <a:alpha val="36000"/>
            </a:schemeClr>
          </a:solidFill>
          <a:ln w="6350">
            <a:solidFill>
              <a:srgbClr val="00D4AA">
                <a:alpha val="20000"/>
              </a:srgbClr>
            </a:solidFill>
            <a:prstDash val="solid"/>
          </a:ln>
        </p:spPr>
      </p:sp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85620" y="118225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E8ED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Intelli</a:t>
            </a:r>
            <a:r>
              <a:rPr lang="en-US" sz="6400" b="1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Credit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785620" y="221552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6B7A99"/>
                </a:solidFill>
              </a:rPr>
              <a:t>Bridging India's Credit Intelligence Gap — with AI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38115" y="2028907"/>
            <a:ext cx="7315200" cy="20169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0" b="1" dirty="0">
                <a:solidFill>
                  <a:srgbClr val="6B7A99"/>
                </a:solidFill>
              </a:rPr>
              <a:t>Thank </a:t>
            </a:r>
            <a:r>
              <a:rPr lang="en-US" sz="6600" b="1" dirty="0" smtClean="0">
                <a:solidFill>
                  <a:srgbClr val="6B7A99"/>
                </a:solidFill>
              </a:rPr>
              <a:t>You</a:t>
            </a:r>
            <a:endParaRPr lang="en-US" sz="660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835</TotalTime>
  <Words>1356</Words>
  <Application>Microsoft Office PowerPoint</Application>
  <PresentationFormat>On-screen Show (16:9)</PresentationFormat>
  <Paragraphs>294</Paragraphs>
  <Slides>14</Slides>
  <Notes>13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IntelliCredit — AI Credit Appraisal Engine</dc:title>
  <dc:subject>PptxGenJS Presentation</dc:subject>
  <dc:creator>PptxGenJS</dc:creator>
  <cp:lastModifiedBy>dell</cp:lastModifiedBy>
  <cp:revision>13</cp:revision>
  <dcterms:created xsi:type="dcterms:W3CDTF">2026-03-03T18:16:11Z</dcterms:created>
  <dcterms:modified xsi:type="dcterms:W3CDTF">2026-03-04T09:54:07Z</dcterms:modified>
</cp:coreProperties>
</file>